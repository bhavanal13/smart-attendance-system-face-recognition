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20" r:id="rId1"/>
  </p:sldMasterIdLst>
  <p:notesMasterIdLst>
    <p:notesMasterId r:id="rId26"/>
  </p:notesMasterIdLst>
  <p:sldIdLst>
    <p:sldId id="256" r:id="rId2"/>
    <p:sldId id="257" r:id="rId3"/>
    <p:sldId id="258" r:id="rId4"/>
    <p:sldId id="259" r:id="rId5"/>
    <p:sldId id="260" r:id="rId6"/>
    <p:sldId id="261" r:id="rId7"/>
    <p:sldId id="262" r:id="rId8"/>
    <p:sldId id="277" r:id="rId9"/>
    <p:sldId id="263" r:id="rId10"/>
    <p:sldId id="279"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8"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1923BF3-7307-40AD-AE1A-2CFA69C1901B}">
  <a:tblStyle styleId="{61923BF3-7307-40AD-AE1A-2CFA69C1901B}"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19F895B0-6077-40BC-990C-EDC00ABF24FE}"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60"/>
  </p:normalViewPr>
  <p:slideViewPr>
    <p:cSldViewPr snapToGrid="0">
      <p:cViewPr varScale="1">
        <p:scale>
          <a:sx n="77" d="100"/>
          <a:sy n="77" d="100"/>
        </p:scale>
        <p:origin x="1757"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1348ba112d6_0_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1348ba112d6_0_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g1348ba112d6_0_74: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132f15c6cef_0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132f15c6cef_0_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g132f15c6cef_0_7: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132f15c6cef_0_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132f15c6cef_0_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g132f15c6cef_0_15: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132f15c6cef_0_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132f15c6cef_0_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g132f15c6cef_0_2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133de894087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133de894087_0_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g133de894087_0_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1348ba112d6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1348ba112d6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g1348ba112d6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1348ba112d6_0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1348ba112d6_0_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g1348ba112d6_0_9: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1348ba112d6_0_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1348ba112d6_0_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g1348ba112d6_0_25: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1348ba112d6_0_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1348ba112d6_0_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g1348ba112d6_0_1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133de894087_0_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133de894087_0_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g133de894087_0_1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133de894087_0_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133de894087_0_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g133de894087_0_3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133de894087_0_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133de894087_0_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g133de894087_0_5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133de894087_0_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33de894087_0_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g133de894087_0_2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132f15c6cef_0_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132f15c6cef_0_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g132f15c6cef_0_49: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1348ba112d6_0_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348ba112d6_0_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g1348ba112d6_0_4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132f15c6cef_0_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132f15c6cef_0_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g132f15c6cef_0_37: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348ba112d6_0_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348ba112d6_0_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g1348ba112d6_0_5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1348ba112d6_0_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1348ba112d6_0_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g1348ba112d6_0_64: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A3645-C274-9DE2-F481-48981DCB4D7A}"/>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3B352839-EA08-1B6C-3F5F-EB404AE9F5A6}"/>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E44A695-C17C-97CF-CA78-74FEADC85AA7}"/>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C74C7A7-6A6B-1B4A-4EB9-05B912972F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4A9390-0787-4C4B-A6CB-A3DD34C6D90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33782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D8EA0-D26D-8194-642F-B967CE2B271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5B1014A-24F8-A2B7-6DC6-1767E1DE21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A747CF-D5B5-0CAA-9065-5B553B0EAA1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5F67B712-DF54-9135-C277-1A9F5F8126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47628D-3170-D1C9-857F-9F6A3705D1E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39993304"/>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772B6-7AE5-794B-95B6-A4C9D7C9874D}"/>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53EAEF2-C1E9-E4FD-2414-A2A26D006BA6}"/>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B57CE83-1789-3255-4CCD-601B22DEADD5}"/>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03C98950-283C-7416-3EEC-77D761FCAD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347490-0302-E463-2A87-844E4E60CF4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84421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D3567-7A1D-06B3-64BA-BF523A5DCAF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DD0954-E63E-FFA3-68A3-893872246BDA}"/>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4D416B6-26C0-C85F-25CE-CA1339AD2448}"/>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56EB1D1-4744-9544-744A-996A9B75327D}"/>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B3EFEB71-26BC-8E72-BFFA-7915FA6DBA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5028A5-5B8F-EA73-DEC8-CCE09A1AE42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50831182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8DEC3-9E06-3C70-002D-570F8EA38DD7}"/>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7BEEC12-ECF5-6A6D-856B-EDD74A1EBCA3}"/>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A968FD86-D870-0D41-B6DE-FB0FC6B3716D}"/>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3140F64-1510-7684-87DE-A973BBEA1763}"/>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5D73849-143F-EF9C-00A7-80AD9B9B87A5}"/>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87B1159-DC83-F070-5B32-BB968836725D}"/>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B3071840-9B55-C506-580C-E2F64E0CBF7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A799BCB-3A61-AE8E-209D-2C369379DFC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87038592"/>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89BCA-AC0F-0B8E-BA5F-CFC8F939E39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F60FD24-90BF-453D-832F-75C4C898776C}"/>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B1DEE7C7-6C6C-874D-6295-0BAC97E95BE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60F6D75-9455-C0D0-D023-D630C35A7A0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67939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03B509-9DAA-C3F2-421C-5E7906493682}"/>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193E0056-123F-162A-48B4-A51A1C2E306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B3FFF6B-CE80-46C1-C4A4-204C1A1F708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868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949C6-7BF2-30DD-06D7-96ECF397FAE4}"/>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3417BDB-6D86-85B1-8F37-30B752B8728C}"/>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7085E92-9923-AD09-8CFC-666382099923}"/>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EDDF7EE-D147-B6FA-35BC-354B561FD988}"/>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6E5A3A89-5137-C7FC-3881-34D2E26C97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0C8DBB5-71D1-00E9-E7F3-79800A356C3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2960604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C022B-8B4E-450A-06BC-26BC89D4DA5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BB95BB-1C77-0803-B757-673CE419C38D}"/>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F1A7F705-6E56-0143-0093-4883E75F1458}"/>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1B02787-CEB2-7A8A-53EC-78B02E94988B}"/>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878C90C7-B37B-44AB-8588-0248BF652E6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4596122-4718-B32C-38B8-5C002344E16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27057509"/>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83A87-08B9-84CD-9CA5-17A2A40BADD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BE71205-0DBB-485C-F744-87031D07E9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EED9A9-45E6-2AFE-815B-29B87132B2A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9C489B65-01AB-C4DC-D9B8-559E935B7B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10CDFC-773C-ED95-A545-8E98EEDB77D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9951406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3C4190-FDC4-A049-30AA-A562BB749F13}"/>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52987A3-8213-9362-0C8E-F08D248E8002}"/>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424758-CA27-39C7-08EF-190B400B81C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697CAA89-277E-E4A8-20E5-0A13BFFDBF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407FB3-368F-841E-34E9-402C32D2976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99067155"/>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60BF93-C80F-CFDE-5611-7DAC9168B7C1}"/>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803DCC5-A47D-CCE5-DF94-8CD7C3A894B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DE638A-C654-6A73-7683-CDB9D460E4CC}"/>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9F244C3E-4533-F77F-3207-9C858FD08AE1}"/>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28B3FF3-76B0-C27B-9963-66950DD02C1F}"/>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92411164"/>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hyperlink" Target="https://en.m.wikipedia.org/wiki/MATLAB" TargetMode="External"/><Relationship Id="rId5" Type="http://schemas.openxmlformats.org/officeDocument/2006/relationships/hyperlink" Target="https://en.mwikipedia.org/wiki/Arduino_Uno" TargetMode="External"/><Relationship Id="rId4" Type="http://schemas.openxmlformats.org/officeDocument/2006/relationships/hyperlink" Target="https://en.wikipedia.org/wiki/Facial_recognition"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3" descr="A close up of a sign&#10;&#10;Description automatically generated"/>
          <p:cNvPicPr preferRelativeResize="0"/>
          <p:nvPr/>
        </p:nvPicPr>
        <p:blipFill rotWithShape="1">
          <a:blip r:embed="rId3">
            <a:alphaModFix/>
          </a:blip>
          <a:srcRect/>
          <a:stretch/>
        </p:blipFill>
        <p:spPr>
          <a:xfrm>
            <a:off x="0" y="0"/>
            <a:ext cx="3021519" cy="693921"/>
          </a:xfrm>
          <a:prstGeom prst="rect">
            <a:avLst/>
          </a:prstGeom>
          <a:noFill/>
          <a:ln>
            <a:noFill/>
          </a:ln>
        </p:spPr>
      </p:pic>
      <p:sp>
        <p:nvSpPr>
          <p:cNvPr id="89" name="Google Shape;89;p13"/>
          <p:cNvSpPr txBox="1">
            <a:spLocks noGrp="1"/>
          </p:cNvSpPr>
          <p:nvPr>
            <p:ph type="dt" sz="half" idx="10"/>
          </p:nvPr>
        </p:nvSpPr>
        <p:spPr>
          <a:xfrm>
            <a:off x="0" y="6492875"/>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6/8/2022</a:t>
            </a:r>
            <a:endParaRPr/>
          </a:p>
        </p:txBody>
      </p:sp>
      <p:sp>
        <p:nvSpPr>
          <p:cNvPr id="91" name="Google Shape;91;p13"/>
          <p:cNvSpPr txBox="1">
            <a:spLocks noGrp="1"/>
          </p:cNvSpPr>
          <p:nvPr>
            <p:ph type="ftr" sz="quarter" idx="11"/>
          </p:nvPr>
        </p:nvSpPr>
        <p:spPr>
          <a:xfrm>
            <a:off x="1676400" y="6356350"/>
            <a:ext cx="6553200" cy="50165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Electronics &amp; Communication Engineering, Project Review Phase - II, 2018 – 22 Batch</a:t>
            </a:r>
            <a:endParaRPr/>
          </a:p>
        </p:txBody>
      </p:sp>
      <p:sp>
        <p:nvSpPr>
          <p:cNvPr id="90" name="Google Shape;90;p13"/>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
        <p:nvSpPr>
          <p:cNvPr id="92" name="Google Shape;92;p13"/>
          <p:cNvSpPr txBox="1"/>
          <p:nvPr/>
        </p:nvSpPr>
        <p:spPr>
          <a:xfrm>
            <a:off x="0" y="886300"/>
            <a:ext cx="9144000" cy="11391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100"/>
              <a:buFont typeface="Arial"/>
              <a:buNone/>
            </a:pPr>
            <a:r>
              <a:rPr lang="en-US" sz="4400">
                <a:solidFill>
                  <a:schemeClr val="dk1"/>
                </a:solidFill>
                <a:latin typeface="Calibri"/>
                <a:ea typeface="Calibri"/>
                <a:cs typeface="Calibri"/>
                <a:sym typeface="Calibri"/>
              </a:rPr>
              <a:t> </a:t>
            </a:r>
            <a:r>
              <a:rPr lang="en-US" sz="3200" b="1">
                <a:solidFill>
                  <a:schemeClr val="dk1"/>
                </a:solidFill>
                <a:latin typeface="Calibri"/>
                <a:ea typeface="Calibri"/>
                <a:cs typeface="Calibri"/>
                <a:sym typeface="Calibri"/>
              </a:rPr>
              <a:t>Smart Attendance Using Face Recognition</a:t>
            </a:r>
            <a:endParaRPr sz="3200" b="1">
              <a:solidFill>
                <a:schemeClr val="dk1"/>
              </a:solidFill>
              <a:latin typeface="Calibri"/>
              <a:ea typeface="Calibri"/>
              <a:cs typeface="Calibri"/>
              <a:sym typeface="Calibri"/>
            </a:endParaRPr>
          </a:p>
          <a:p>
            <a:pPr marL="0" marR="0" lvl="0" indent="0" algn="ctr" rtl="0">
              <a:spcBef>
                <a:spcPts val="0"/>
              </a:spcBef>
              <a:spcAft>
                <a:spcPts val="0"/>
              </a:spcAft>
              <a:buNone/>
            </a:pPr>
            <a:endParaRPr sz="2400">
              <a:solidFill>
                <a:schemeClr val="dk1"/>
              </a:solidFill>
              <a:latin typeface="Calibri"/>
              <a:ea typeface="Calibri"/>
              <a:cs typeface="Calibri"/>
              <a:sym typeface="Calibri"/>
            </a:endParaRPr>
          </a:p>
        </p:txBody>
      </p:sp>
      <p:sp>
        <p:nvSpPr>
          <p:cNvPr id="93" name="Google Shape;93;p13"/>
          <p:cNvSpPr txBox="1"/>
          <p:nvPr/>
        </p:nvSpPr>
        <p:spPr>
          <a:xfrm>
            <a:off x="0" y="2590800"/>
            <a:ext cx="914400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Submitted by:</a:t>
            </a:r>
            <a:endParaRPr/>
          </a:p>
        </p:txBody>
      </p:sp>
      <p:sp>
        <p:nvSpPr>
          <p:cNvPr id="94" name="Google Shape;94;p13"/>
          <p:cNvSpPr txBox="1"/>
          <p:nvPr/>
        </p:nvSpPr>
        <p:spPr>
          <a:xfrm>
            <a:off x="0" y="4953000"/>
            <a:ext cx="9144000" cy="1477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Calibri"/>
                <a:ea typeface="Calibri"/>
                <a:cs typeface="Calibri"/>
                <a:sym typeface="Calibri"/>
              </a:rPr>
              <a:t>Dr. R. Sukumar</a:t>
            </a:r>
            <a:endParaRPr sz="18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None/>
            </a:pPr>
            <a:r>
              <a:rPr lang="en-US" sz="1800">
                <a:solidFill>
                  <a:schemeClr val="dk1"/>
                </a:solidFill>
                <a:latin typeface="Calibri"/>
                <a:ea typeface="Calibri"/>
                <a:cs typeface="Calibri"/>
                <a:sym typeface="Calibri"/>
              </a:rPr>
              <a:t>HOD</a:t>
            </a:r>
            <a:endParaRPr sz="18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Department of Electronics and Communication Engineering </a:t>
            </a:r>
            <a:endParaRPr/>
          </a:p>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Faculty of Engineering and Technology</a:t>
            </a:r>
            <a:endParaRPr/>
          </a:p>
          <a:p>
            <a:pPr marL="0" marR="0" lvl="0" indent="0" algn="ctr" rtl="0">
              <a:spcBef>
                <a:spcPts val="0"/>
              </a:spcBef>
              <a:spcAft>
                <a:spcPts val="0"/>
              </a:spcAft>
              <a:buNone/>
            </a:pPr>
            <a:r>
              <a:rPr lang="en-US" sz="1800" b="1" i="0" u="none" strike="noStrike" cap="none">
                <a:solidFill>
                  <a:srgbClr val="0070C0"/>
                </a:solidFill>
                <a:latin typeface="Calibri"/>
                <a:ea typeface="Calibri"/>
                <a:cs typeface="Calibri"/>
                <a:sym typeface="Calibri"/>
              </a:rPr>
              <a:t>JAIN DEEMED-TO-BE UNIVERSITY</a:t>
            </a:r>
            <a:endParaRPr sz="1800" b="1" i="0" u="none" strike="noStrike" cap="none">
              <a:solidFill>
                <a:srgbClr val="0070C0"/>
              </a:solidFill>
              <a:latin typeface="Calibri"/>
              <a:ea typeface="Calibri"/>
              <a:cs typeface="Calibri"/>
              <a:sym typeface="Calibri"/>
            </a:endParaRPr>
          </a:p>
        </p:txBody>
      </p:sp>
      <p:sp>
        <p:nvSpPr>
          <p:cNvPr id="95" name="Google Shape;95;p13"/>
          <p:cNvSpPr/>
          <p:nvPr/>
        </p:nvSpPr>
        <p:spPr>
          <a:xfrm>
            <a:off x="0" y="1600200"/>
            <a:ext cx="9144000" cy="96949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US" sz="1100" b="1" i="0" u="none" strike="noStrike" cap="none">
                <a:solidFill>
                  <a:schemeClr val="dk1"/>
                </a:solidFill>
                <a:latin typeface="Arial"/>
                <a:ea typeface="Arial"/>
                <a:cs typeface="Arial"/>
                <a:sym typeface="Arial"/>
              </a:rPr>
              <a:t>Submitted in partial fulfilment for the award of the degree of  </a:t>
            </a:r>
            <a:endParaRPr sz="8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600"/>
              <a:buFont typeface="Times New Roman"/>
              <a:buNone/>
            </a:pPr>
            <a:r>
              <a:rPr lang="en-US" sz="1600" b="1" i="0" u="none" strike="noStrike" cap="none">
                <a:solidFill>
                  <a:schemeClr val="dk1"/>
                </a:solidFill>
                <a:latin typeface="Times New Roman"/>
                <a:ea typeface="Times New Roman"/>
                <a:cs typeface="Times New Roman"/>
                <a:sym typeface="Times New Roman"/>
              </a:rPr>
              <a:t>Bachelor of Technology</a:t>
            </a:r>
            <a:endParaRPr sz="8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600"/>
              <a:buFont typeface="Times New Roman"/>
              <a:buNone/>
            </a:pPr>
            <a:r>
              <a:rPr lang="en-US" sz="1600" b="1" i="0" u="none" strike="noStrike" cap="none">
                <a:solidFill>
                  <a:schemeClr val="dk1"/>
                </a:solidFill>
                <a:latin typeface="Times New Roman"/>
                <a:ea typeface="Times New Roman"/>
                <a:cs typeface="Times New Roman"/>
                <a:sym typeface="Times New Roman"/>
              </a:rPr>
              <a:t>in</a:t>
            </a:r>
            <a:endParaRPr sz="8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400"/>
              <a:buFont typeface="Times New Roman"/>
              <a:buNone/>
            </a:pPr>
            <a:r>
              <a:rPr lang="en-US" sz="1400" b="1" i="0" u="none" strike="noStrike" cap="none">
                <a:solidFill>
                  <a:schemeClr val="dk1"/>
                </a:solidFill>
                <a:latin typeface="Times New Roman"/>
                <a:ea typeface="Times New Roman"/>
                <a:cs typeface="Times New Roman"/>
                <a:sym typeface="Times New Roman"/>
              </a:rPr>
              <a:t>ELECTRONICS AND COMMUNICATION ENGINEERING</a:t>
            </a:r>
            <a:endParaRPr sz="1800" b="0" i="0" u="none" strike="noStrike" cap="none">
              <a:solidFill>
                <a:schemeClr val="dk1"/>
              </a:solidFill>
              <a:latin typeface="Arial"/>
              <a:ea typeface="Arial"/>
              <a:cs typeface="Arial"/>
              <a:sym typeface="Arial"/>
            </a:endParaRPr>
          </a:p>
        </p:txBody>
      </p:sp>
      <p:graphicFrame>
        <p:nvGraphicFramePr>
          <p:cNvPr id="96" name="Google Shape;96;p13"/>
          <p:cNvGraphicFramePr/>
          <p:nvPr/>
        </p:nvGraphicFramePr>
        <p:xfrm>
          <a:off x="2292925" y="3124465"/>
          <a:ext cx="5588275" cy="1138176"/>
        </p:xfrm>
        <a:graphic>
          <a:graphicData uri="http://schemas.openxmlformats.org/drawingml/2006/table">
            <a:tbl>
              <a:tblPr firstRow="1" bandRow="1">
                <a:noFill/>
                <a:tableStyleId>{61923BF3-7307-40AD-AE1A-2CFA69C1901B}</a:tableStyleId>
              </a:tblPr>
              <a:tblGrid>
                <a:gridCol w="1516825">
                  <a:extLst>
                    <a:ext uri="{9D8B030D-6E8A-4147-A177-3AD203B41FA5}">
                      <a16:colId xmlns:a16="http://schemas.microsoft.com/office/drawing/2014/main" val="20000"/>
                    </a:ext>
                  </a:extLst>
                </a:gridCol>
                <a:gridCol w="4071450">
                  <a:extLst>
                    <a:ext uri="{9D8B030D-6E8A-4147-A177-3AD203B41FA5}">
                      <a16:colId xmlns:a16="http://schemas.microsoft.com/office/drawing/2014/main" val="20001"/>
                    </a:ext>
                  </a:extLst>
                </a:gridCol>
              </a:tblGrid>
              <a:tr h="282700">
                <a:tc>
                  <a:txBody>
                    <a:bodyPr/>
                    <a:lstStyle/>
                    <a:p>
                      <a:pPr marL="0" marR="0" lvl="0" indent="0" algn="l" rtl="0">
                        <a:lnSpc>
                          <a:spcPct val="150000"/>
                        </a:lnSpc>
                        <a:spcBef>
                          <a:spcPts val="0"/>
                        </a:spcBef>
                        <a:spcAft>
                          <a:spcPts val="0"/>
                        </a:spcAft>
                        <a:buNone/>
                      </a:pPr>
                      <a:r>
                        <a:rPr lang="en-US" sz="1400" b="1" u="none" strike="noStrike" cap="none">
                          <a:solidFill>
                            <a:srgbClr val="000000"/>
                          </a:solidFill>
                          <a:latin typeface="Times New Roman"/>
                          <a:ea typeface="Times New Roman"/>
                          <a:cs typeface="Times New Roman"/>
                          <a:sym typeface="Times New Roman"/>
                        </a:rPr>
                        <a:t>18BT</a:t>
                      </a:r>
                      <a:r>
                        <a:rPr lang="en-US">
                          <a:solidFill>
                            <a:srgbClr val="000000"/>
                          </a:solidFill>
                          <a:latin typeface="Times New Roman"/>
                          <a:ea typeface="Times New Roman"/>
                          <a:cs typeface="Times New Roman"/>
                          <a:sym typeface="Times New Roman"/>
                        </a:rPr>
                        <a:t>REC010</a:t>
                      </a:r>
                      <a:endParaRPr sz="1400" b="1" u="none" strike="noStrike" cap="none">
                        <a:latin typeface="Calibri"/>
                        <a:ea typeface="Calibri"/>
                        <a:cs typeface="Calibri"/>
                        <a:sym typeface="Calibri"/>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50000"/>
                        </a:lnSpc>
                        <a:spcBef>
                          <a:spcPts val="0"/>
                        </a:spcBef>
                        <a:spcAft>
                          <a:spcPts val="0"/>
                        </a:spcAft>
                        <a:buNone/>
                      </a:pPr>
                      <a:r>
                        <a:rPr lang="en-US">
                          <a:solidFill>
                            <a:srgbClr val="000000"/>
                          </a:solidFill>
                          <a:latin typeface="Times New Roman"/>
                          <a:ea typeface="Times New Roman"/>
                          <a:cs typeface="Times New Roman"/>
                          <a:sym typeface="Times New Roman"/>
                        </a:rPr>
                        <a:t>Bhavana.L</a:t>
                      </a:r>
                      <a:endParaRPr sz="1400" b="1" u="none" strike="noStrike" cap="none">
                        <a:latin typeface="Calibri"/>
                        <a:ea typeface="Calibri"/>
                        <a:cs typeface="Calibri"/>
                        <a:sym typeface="Calibri"/>
                      </a:endParaRPr>
                    </a:p>
                  </a:txBody>
                  <a:tcPr marL="68575" marR="68575" marT="0" marB="0" anchor="ctr">
                    <a:lnL w="9525" cap="flat" cmpd="sng">
                      <a:solidFill>
                        <a:srgbClr val="000000">
                          <a:alpha val="0"/>
                        </a:srgbClr>
                      </a:solidFill>
                      <a:prstDash val="solid"/>
                      <a:round/>
                      <a:headEnd type="none" w="sm" len="sm"/>
                      <a:tailEnd type="none" w="sm" len="sm"/>
                    </a:lnL>
                  </a:tcPr>
                </a:tc>
                <a:extLst>
                  <a:ext uri="{0D108BD9-81ED-4DB2-BD59-A6C34878D82A}">
                    <a16:rowId xmlns:a16="http://schemas.microsoft.com/office/drawing/2014/main" val="10000"/>
                  </a:ext>
                </a:extLst>
              </a:tr>
              <a:tr h="282700">
                <a:tc>
                  <a:txBody>
                    <a:bodyPr/>
                    <a:lstStyle/>
                    <a:p>
                      <a:pPr marL="0" marR="0" lvl="0" indent="0" algn="l" rtl="0">
                        <a:lnSpc>
                          <a:spcPct val="150000"/>
                        </a:lnSpc>
                        <a:spcBef>
                          <a:spcPts val="0"/>
                        </a:spcBef>
                        <a:spcAft>
                          <a:spcPts val="0"/>
                        </a:spcAft>
                        <a:buNone/>
                      </a:pPr>
                      <a:r>
                        <a:rPr lang="en-US" sz="1400" b="1" u="none" strike="noStrike" cap="none">
                          <a:solidFill>
                            <a:srgbClr val="000000"/>
                          </a:solidFill>
                          <a:latin typeface="Times New Roman"/>
                          <a:ea typeface="Times New Roman"/>
                          <a:cs typeface="Times New Roman"/>
                          <a:sym typeface="Times New Roman"/>
                        </a:rPr>
                        <a:t>18BT</a:t>
                      </a:r>
                      <a:r>
                        <a:rPr lang="en-US" b="1">
                          <a:solidFill>
                            <a:srgbClr val="000000"/>
                          </a:solidFill>
                          <a:latin typeface="Times New Roman"/>
                          <a:ea typeface="Times New Roman"/>
                          <a:cs typeface="Times New Roman"/>
                          <a:sym typeface="Times New Roman"/>
                        </a:rPr>
                        <a:t>REC018</a:t>
                      </a:r>
                      <a:endParaRPr sz="1400" b="1" u="none" strike="noStrike" cap="none">
                        <a:latin typeface="Calibri"/>
                        <a:ea typeface="Calibri"/>
                        <a:cs typeface="Calibri"/>
                        <a:sym typeface="Calibri"/>
                      </a:endParaRPr>
                    </a:p>
                  </a:txBody>
                  <a:tcPr marL="68575" marR="68575" marT="0" marB="0" anchor="ctr">
                    <a:lnT w="9525" cap="flat" cmpd="sng">
                      <a:solidFill>
                        <a:srgbClr val="000000">
                          <a:alpha val="0"/>
                        </a:srgbClr>
                      </a:solidFill>
                      <a:prstDash val="solid"/>
                      <a:round/>
                      <a:headEnd type="none" w="sm" len="sm"/>
                      <a:tailEnd type="none" w="sm" len="sm"/>
                    </a:lnT>
                  </a:tcPr>
                </a:tc>
                <a:tc>
                  <a:txBody>
                    <a:bodyPr/>
                    <a:lstStyle/>
                    <a:p>
                      <a:pPr marL="0" marR="0" lvl="0" indent="0" algn="l" rtl="0">
                        <a:lnSpc>
                          <a:spcPct val="150000"/>
                        </a:lnSpc>
                        <a:spcBef>
                          <a:spcPts val="0"/>
                        </a:spcBef>
                        <a:spcAft>
                          <a:spcPts val="0"/>
                        </a:spcAft>
                        <a:buClr>
                          <a:srgbClr val="000000"/>
                        </a:buClr>
                        <a:buSzPts val="1400"/>
                        <a:buFont typeface="Times New Roman"/>
                        <a:buNone/>
                      </a:pPr>
                      <a:r>
                        <a:rPr lang="en-US" b="1"/>
                        <a:t>Eakila Ajith Bhargav</a:t>
                      </a:r>
                      <a:endParaRPr sz="1400" b="1" u="none" strike="noStrike" cap="none">
                        <a:latin typeface="Calibri"/>
                        <a:ea typeface="Calibri"/>
                        <a:cs typeface="Calibri"/>
                        <a:sym typeface="Calibri"/>
                      </a:endParaRPr>
                    </a:p>
                  </a:txBody>
                  <a:tcPr marL="68575" marR="68575" marT="0" marB="0" anchor="ctr"/>
                </a:tc>
                <a:extLst>
                  <a:ext uri="{0D108BD9-81ED-4DB2-BD59-A6C34878D82A}">
                    <a16:rowId xmlns:a16="http://schemas.microsoft.com/office/drawing/2014/main" val="10001"/>
                  </a:ext>
                </a:extLst>
              </a:tr>
              <a:tr h="282700">
                <a:tc>
                  <a:txBody>
                    <a:bodyPr/>
                    <a:lstStyle/>
                    <a:p>
                      <a:pPr marL="0" marR="0" lvl="0" indent="0" algn="l" rtl="0">
                        <a:lnSpc>
                          <a:spcPct val="150000"/>
                        </a:lnSpc>
                        <a:spcBef>
                          <a:spcPts val="0"/>
                        </a:spcBef>
                        <a:spcAft>
                          <a:spcPts val="0"/>
                        </a:spcAft>
                        <a:buNone/>
                      </a:pPr>
                      <a:r>
                        <a:rPr lang="en-US" sz="1400" b="1" u="none" strike="noStrike" cap="none">
                          <a:solidFill>
                            <a:srgbClr val="000000"/>
                          </a:solidFill>
                          <a:latin typeface="Times New Roman"/>
                          <a:ea typeface="Times New Roman"/>
                          <a:cs typeface="Times New Roman"/>
                          <a:sym typeface="Times New Roman"/>
                        </a:rPr>
                        <a:t>18BT</a:t>
                      </a:r>
                      <a:r>
                        <a:rPr lang="en-US" b="1">
                          <a:solidFill>
                            <a:srgbClr val="000000"/>
                          </a:solidFill>
                          <a:latin typeface="Times New Roman"/>
                          <a:ea typeface="Times New Roman"/>
                          <a:cs typeface="Times New Roman"/>
                          <a:sym typeface="Times New Roman"/>
                        </a:rPr>
                        <a:t>REC019</a:t>
                      </a:r>
                      <a:endParaRPr sz="1400" b="1" u="none" strike="noStrike" cap="none">
                        <a:latin typeface="Calibri"/>
                        <a:ea typeface="Calibri"/>
                        <a:cs typeface="Calibri"/>
                        <a:sym typeface="Calibri"/>
                      </a:endParaRPr>
                    </a:p>
                  </a:txBody>
                  <a:tcPr marL="68575" marR="68575" marT="0" marB="0" anchor="ctr"/>
                </a:tc>
                <a:tc>
                  <a:txBody>
                    <a:bodyPr/>
                    <a:lstStyle/>
                    <a:p>
                      <a:pPr marL="0" marR="0" lvl="0" indent="0" algn="l" rtl="0">
                        <a:lnSpc>
                          <a:spcPct val="150000"/>
                        </a:lnSpc>
                        <a:spcBef>
                          <a:spcPts val="0"/>
                        </a:spcBef>
                        <a:spcAft>
                          <a:spcPts val="0"/>
                        </a:spcAft>
                        <a:buClr>
                          <a:srgbClr val="000000"/>
                        </a:buClr>
                        <a:buSzPts val="1400"/>
                        <a:buFont typeface="Times New Roman"/>
                        <a:buNone/>
                      </a:pPr>
                      <a:r>
                        <a:rPr lang="en-US" b="1">
                          <a:solidFill>
                            <a:srgbClr val="000000"/>
                          </a:solidFill>
                          <a:latin typeface="Times New Roman"/>
                          <a:ea typeface="Times New Roman"/>
                          <a:cs typeface="Times New Roman"/>
                          <a:sym typeface="Times New Roman"/>
                        </a:rPr>
                        <a:t>G Sai Dharani</a:t>
                      </a:r>
                      <a:endParaRPr sz="1400" b="1" u="none" strike="noStrike" cap="none">
                        <a:latin typeface="Calibri"/>
                        <a:ea typeface="Calibri"/>
                        <a:cs typeface="Calibri"/>
                        <a:sym typeface="Calibri"/>
                      </a:endParaRPr>
                    </a:p>
                  </a:txBody>
                  <a:tcPr marL="68575" marR="68575" marT="0" marB="0" anchor="ctr"/>
                </a:tc>
                <a:extLst>
                  <a:ext uri="{0D108BD9-81ED-4DB2-BD59-A6C34878D82A}">
                    <a16:rowId xmlns:a16="http://schemas.microsoft.com/office/drawing/2014/main" val="10002"/>
                  </a:ext>
                </a:extLst>
              </a:tr>
              <a:tr h="282700">
                <a:tc>
                  <a:txBody>
                    <a:bodyPr/>
                    <a:lstStyle/>
                    <a:p>
                      <a:pPr marL="0" marR="0" lvl="0" indent="0" algn="l" rtl="0">
                        <a:lnSpc>
                          <a:spcPct val="150000"/>
                        </a:lnSpc>
                        <a:spcBef>
                          <a:spcPts val="0"/>
                        </a:spcBef>
                        <a:spcAft>
                          <a:spcPts val="0"/>
                        </a:spcAft>
                        <a:buNone/>
                      </a:pPr>
                      <a:r>
                        <a:rPr lang="en-US" sz="1400" b="1" u="none" strike="noStrike" cap="none">
                          <a:solidFill>
                            <a:srgbClr val="000000"/>
                          </a:solidFill>
                          <a:latin typeface="Times New Roman"/>
                          <a:ea typeface="Times New Roman"/>
                          <a:cs typeface="Times New Roman"/>
                          <a:sym typeface="Times New Roman"/>
                        </a:rPr>
                        <a:t>8BT</a:t>
                      </a:r>
                      <a:r>
                        <a:rPr lang="en-US" b="1">
                          <a:solidFill>
                            <a:srgbClr val="000000"/>
                          </a:solidFill>
                          <a:latin typeface="Times New Roman"/>
                          <a:ea typeface="Times New Roman"/>
                          <a:cs typeface="Times New Roman"/>
                          <a:sym typeface="Times New Roman"/>
                        </a:rPr>
                        <a:t>REC046</a:t>
                      </a:r>
                      <a:endParaRPr sz="1400" b="1" u="none" strike="noStrike" cap="none">
                        <a:latin typeface="Calibri"/>
                        <a:ea typeface="Calibri"/>
                        <a:cs typeface="Calibri"/>
                        <a:sym typeface="Calibri"/>
                      </a:endParaRPr>
                    </a:p>
                  </a:txBody>
                  <a:tcPr marL="68575" marR="68575" marT="0" marB="0" anchor="ctr"/>
                </a:tc>
                <a:tc>
                  <a:txBody>
                    <a:bodyPr/>
                    <a:lstStyle/>
                    <a:p>
                      <a:pPr marL="0" marR="0" lvl="0" indent="0" algn="l" rtl="0">
                        <a:lnSpc>
                          <a:spcPct val="150000"/>
                        </a:lnSpc>
                        <a:spcBef>
                          <a:spcPts val="0"/>
                        </a:spcBef>
                        <a:spcAft>
                          <a:spcPts val="0"/>
                        </a:spcAft>
                        <a:buClr>
                          <a:srgbClr val="000000"/>
                        </a:buClr>
                        <a:buSzPts val="1400"/>
                        <a:buFont typeface="Times New Roman"/>
                        <a:buNone/>
                      </a:pPr>
                      <a:r>
                        <a:rPr lang="en-US" b="1">
                          <a:solidFill>
                            <a:srgbClr val="000000"/>
                          </a:solidFill>
                          <a:latin typeface="Times New Roman"/>
                          <a:ea typeface="Times New Roman"/>
                          <a:cs typeface="Times New Roman"/>
                          <a:sym typeface="Times New Roman"/>
                        </a:rPr>
                        <a:t>N Lohithas Reddy</a:t>
                      </a:r>
                      <a:endParaRPr sz="1400" b="1" u="none" strike="noStrike" cap="none">
                        <a:latin typeface="Calibri"/>
                        <a:ea typeface="Calibri"/>
                        <a:cs typeface="Calibri"/>
                        <a:sym typeface="Calibri"/>
                      </a:endParaRPr>
                    </a:p>
                  </a:txBody>
                  <a:tcPr marL="68575" marR="68575" marT="0" marB="0" anchor="ctr"/>
                </a:tc>
                <a:extLst>
                  <a:ext uri="{0D108BD9-81ED-4DB2-BD59-A6C34878D82A}">
                    <a16:rowId xmlns:a16="http://schemas.microsoft.com/office/drawing/2014/main" val="10003"/>
                  </a:ext>
                </a:extLst>
              </a:tr>
            </a:tbl>
          </a:graphicData>
        </a:graphic>
      </p:graphicFrame>
      <p:sp>
        <p:nvSpPr>
          <p:cNvPr id="97" name="Google Shape;97;p13"/>
          <p:cNvSpPr txBox="1"/>
          <p:nvPr/>
        </p:nvSpPr>
        <p:spPr>
          <a:xfrm>
            <a:off x="0" y="4419600"/>
            <a:ext cx="9144000" cy="523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0" i="0" u="none" strike="noStrike" cap="none">
                <a:solidFill>
                  <a:schemeClr val="dk1"/>
                </a:solidFill>
                <a:latin typeface="Calibri"/>
                <a:ea typeface="Calibri"/>
                <a:cs typeface="Calibri"/>
                <a:sym typeface="Calibri"/>
              </a:rPr>
              <a:t>Batch No. </a:t>
            </a:r>
            <a:r>
              <a:rPr lang="en-US" sz="1400" b="1" i="0" u="none" strike="noStrike" cap="none">
                <a:solidFill>
                  <a:schemeClr val="dk1"/>
                </a:solidFill>
                <a:latin typeface="Calibri"/>
                <a:ea typeface="Calibri"/>
                <a:cs typeface="Calibri"/>
                <a:sym typeface="Calibri"/>
              </a:rPr>
              <a:t>Batch 2018-22/AY 2021-22/B</a:t>
            </a:r>
            <a:r>
              <a:rPr lang="en-US" b="1">
                <a:solidFill>
                  <a:schemeClr val="dk1"/>
                </a:solidFill>
                <a:latin typeface="Calibri"/>
                <a:ea typeface="Calibri"/>
                <a:cs typeface="Calibri"/>
                <a:sym typeface="Calibri"/>
              </a:rPr>
              <a:t>2</a:t>
            </a:r>
            <a:endParaRPr sz="1400" b="1" i="0" u="none" strike="noStrike" cap="none">
              <a:solidFill>
                <a:schemeClr val="dk1"/>
              </a:solidFill>
              <a:latin typeface="Calibri"/>
              <a:ea typeface="Calibri"/>
              <a:cs typeface="Calibri"/>
              <a:sym typeface="Calibri"/>
            </a:endParaRPr>
          </a:p>
          <a:p>
            <a:pPr marL="0" marR="0" lvl="0" indent="0" algn="ctr" rtl="0">
              <a:spcBef>
                <a:spcPts val="0"/>
              </a:spcBef>
              <a:spcAft>
                <a:spcPts val="0"/>
              </a:spcAft>
              <a:buNone/>
            </a:pPr>
            <a:r>
              <a:rPr lang="en-US" sz="1400" b="0" i="0" u="none" strike="noStrike" cap="none">
                <a:solidFill>
                  <a:schemeClr val="dk1"/>
                </a:solidFill>
                <a:latin typeface="Calibri"/>
                <a:ea typeface="Calibri"/>
                <a:cs typeface="Calibri"/>
                <a:sym typeface="Calibri"/>
              </a:rPr>
              <a:t>Date of Presentation:</a:t>
            </a:r>
            <a:r>
              <a:rPr lang="en-US" sz="1400" b="1" i="0" u="none" strike="noStrike" cap="none">
                <a:solidFill>
                  <a:schemeClr val="dk1"/>
                </a:solidFill>
                <a:latin typeface="Calibri"/>
                <a:ea typeface="Calibri"/>
                <a:cs typeface="Calibri"/>
                <a:sym typeface="Calibri"/>
              </a:rPr>
              <a:t> </a:t>
            </a:r>
            <a:r>
              <a:rPr lang="en-US" b="1">
                <a:solidFill>
                  <a:schemeClr val="dk1"/>
                </a:solidFill>
                <a:latin typeface="Calibri"/>
                <a:ea typeface="Calibri"/>
                <a:cs typeface="Calibri"/>
                <a:sym typeface="Calibri"/>
              </a:rPr>
              <a:t>22</a:t>
            </a:r>
            <a:r>
              <a:rPr lang="en-US" sz="1400" b="1" i="0" u="none" strike="noStrike" cap="none">
                <a:solidFill>
                  <a:schemeClr val="dk1"/>
                </a:solidFill>
                <a:latin typeface="Calibri"/>
                <a:ea typeface="Calibri"/>
                <a:cs typeface="Calibri"/>
                <a:sym typeface="Calibri"/>
              </a:rPr>
              <a:t>/06/2022</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4"/>
          <p:cNvSpPr txBox="1">
            <a:spLocks noGrp="1"/>
          </p:cNvSpPr>
          <p:nvPr>
            <p:ph type="title"/>
          </p:nvPr>
        </p:nvSpPr>
        <p:spPr>
          <a:xfrm>
            <a:off x="2819400" y="228600"/>
            <a:ext cx="4118113" cy="6559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ct val="100000"/>
              <a:buFont typeface="Calibri"/>
              <a:buNone/>
            </a:pPr>
            <a:r>
              <a:rPr lang="en-US" dirty="0"/>
              <a:t>Content</a:t>
            </a:r>
            <a:endParaRPr dirty="0"/>
          </a:p>
        </p:txBody>
      </p:sp>
      <p:sp>
        <p:nvSpPr>
          <p:cNvPr id="103" name="Google Shape;103;p14"/>
          <p:cNvSpPr txBox="1">
            <a:spLocks noGrp="1"/>
          </p:cNvSpPr>
          <p:nvPr>
            <p:ph type="dt" sz="half" idx="10"/>
          </p:nvPr>
        </p:nvSpPr>
        <p:spPr>
          <a:xfrm>
            <a:off x="0" y="6492875"/>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6/8/2022</a:t>
            </a:r>
            <a:endParaRPr/>
          </a:p>
        </p:txBody>
      </p:sp>
      <p:sp>
        <p:nvSpPr>
          <p:cNvPr id="107" name="Google Shape;107;p14"/>
          <p:cNvSpPr txBox="1">
            <a:spLocks noGrp="1"/>
          </p:cNvSpPr>
          <p:nvPr>
            <p:ph type="ftr" sz="quarter" idx="11"/>
          </p:nvPr>
        </p:nvSpPr>
        <p:spPr>
          <a:xfrm>
            <a:off x="1676400" y="6356350"/>
            <a:ext cx="6553200" cy="50165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Electronics &amp; Communication Engineering, Project Review Phase - II, 2018 – 22 Batch</a:t>
            </a:r>
            <a:endParaRPr/>
          </a:p>
        </p:txBody>
      </p:sp>
      <p:sp>
        <p:nvSpPr>
          <p:cNvPr id="104" name="Google Shape;104;p1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105" name="Google Shape;105;p14"/>
          <p:cNvSpPr txBox="1"/>
          <p:nvPr/>
        </p:nvSpPr>
        <p:spPr>
          <a:xfrm>
            <a:off x="421350" y="1249550"/>
            <a:ext cx="8511600" cy="5243400"/>
          </a:xfrm>
          <a:prstGeom prst="rect">
            <a:avLst/>
          </a:prstGeom>
          <a:noFill/>
          <a:ln>
            <a:noFill/>
          </a:ln>
        </p:spPr>
        <p:txBody>
          <a:bodyPr spcFirstLastPara="1" wrap="square" lIns="91425" tIns="45700" rIns="91425" bIns="45700" anchor="t" anchorCtr="0">
            <a:noAutofit/>
          </a:bodyPr>
          <a:lstStyle/>
          <a:p>
            <a:pPr marL="457200" marR="0" lvl="0" indent="-457200" algn="l" rtl="0">
              <a:lnSpc>
                <a:spcPct val="150000"/>
              </a:lnSpc>
              <a:spcBef>
                <a:spcPts val="0"/>
              </a:spcBef>
              <a:spcAft>
                <a:spcPts val="0"/>
              </a:spcAft>
              <a:buClr>
                <a:schemeClr val="dk1"/>
              </a:buClr>
              <a:buSzPts val="2000"/>
              <a:buFont typeface="Calibri"/>
              <a:buAutoNum type="arabicPeriod"/>
            </a:pPr>
            <a:r>
              <a:rPr lang="en-US" sz="2000" b="0" i="0" u="none" strike="noStrike" cap="none">
                <a:solidFill>
                  <a:schemeClr val="dk1"/>
                </a:solidFill>
                <a:latin typeface="Calibri"/>
                <a:ea typeface="Calibri"/>
                <a:cs typeface="Calibri"/>
                <a:sym typeface="Calibri"/>
              </a:rPr>
              <a:t>Introduction</a:t>
            </a:r>
            <a:endParaRPr/>
          </a:p>
          <a:p>
            <a:pPr marL="457200" marR="0" lvl="0" indent="-457200" algn="l" rtl="0">
              <a:lnSpc>
                <a:spcPct val="150000"/>
              </a:lnSpc>
              <a:spcBef>
                <a:spcPts val="0"/>
              </a:spcBef>
              <a:spcAft>
                <a:spcPts val="0"/>
              </a:spcAft>
              <a:buClr>
                <a:schemeClr val="dk1"/>
              </a:buClr>
              <a:buSzPts val="2000"/>
              <a:buFont typeface="Calibri"/>
              <a:buAutoNum type="arabicPeriod"/>
            </a:pPr>
            <a:r>
              <a:rPr lang="en-US" sz="2000" b="0" i="0" u="none" strike="noStrike" cap="none">
                <a:solidFill>
                  <a:schemeClr val="dk1"/>
                </a:solidFill>
                <a:latin typeface="Calibri"/>
                <a:ea typeface="Calibri"/>
                <a:cs typeface="Calibri"/>
                <a:sym typeface="Calibri"/>
              </a:rPr>
              <a:t>Literature Survey/Review</a:t>
            </a:r>
            <a:endParaRPr sz="2000" b="0" i="0" u="none" strike="noStrike" cap="none">
              <a:solidFill>
                <a:schemeClr val="dk1"/>
              </a:solidFill>
              <a:latin typeface="Calibri"/>
              <a:ea typeface="Calibri"/>
              <a:cs typeface="Calibri"/>
              <a:sym typeface="Calibri"/>
            </a:endParaRPr>
          </a:p>
          <a:p>
            <a:pPr marL="457200" marR="0" lvl="0" indent="-457200" algn="l" rtl="0">
              <a:lnSpc>
                <a:spcPct val="150000"/>
              </a:lnSpc>
              <a:spcBef>
                <a:spcPts val="0"/>
              </a:spcBef>
              <a:spcAft>
                <a:spcPts val="0"/>
              </a:spcAft>
              <a:buClr>
                <a:schemeClr val="dk1"/>
              </a:buClr>
              <a:buSzPts val="2000"/>
              <a:buFont typeface="Calibri"/>
              <a:buAutoNum type="arabicPeriod"/>
            </a:pPr>
            <a:r>
              <a:rPr lang="en-US" sz="2000" b="0" i="0" u="none" strike="noStrike" cap="none">
                <a:solidFill>
                  <a:schemeClr val="dk1"/>
                </a:solidFill>
                <a:latin typeface="Calibri"/>
                <a:ea typeface="Calibri"/>
                <a:cs typeface="Calibri"/>
                <a:sym typeface="Calibri"/>
              </a:rPr>
              <a:t>Problem Statement</a:t>
            </a:r>
            <a:endParaRPr sz="2000" b="0" i="0" u="none" strike="noStrike" cap="none">
              <a:solidFill>
                <a:schemeClr val="dk1"/>
              </a:solidFill>
              <a:latin typeface="Calibri"/>
              <a:ea typeface="Calibri"/>
              <a:cs typeface="Calibri"/>
              <a:sym typeface="Calibri"/>
            </a:endParaRPr>
          </a:p>
          <a:p>
            <a:pPr marL="457200" marR="0" lvl="0" indent="-457200" algn="l" rtl="0">
              <a:lnSpc>
                <a:spcPct val="150000"/>
              </a:lnSpc>
              <a:spcBef>
                <a:spcPts val="0"/>
              </a:spcBef>
              <a:spcAft>
                <a:spcPts val="0"/>
              </a:spcAft>
              <a:buClr>
                <a:schemeClr val="dk1"/>
              </a:buClr>
              <a:buSzPts val="2000"/>
              <a:buFont typeface="Calibri"/>
              <a:buAutoNum type="arabicPeriod"/>
            </a:pPr>
            <a:r>
              <a:rPr lang="en-US" sz="2000" b="0" i="0" u="none" strike="noStrike" cap="none">
                <a:solidFill>
                  <a:schemeClr val="dk1"/>
                </a:solidFill>
                <a:latin typeface="Calibri"/>
                <a:ea typeface="Calibri"/>
                <a:cs typeface="Calibri"/>
                <a:sym typeface="Calibri"/>
              </a:rPr>
              <a:t>Objectives</a:t>
            </a:r>
            <a:endParaRPr/>
          </a:p>
          <a:p>
            <a:pPr marL="457200" marR="0" lvl="0" indent="-457200" algn="l" rtl="0">
              <a:lnSpc>
                <a:spcPct val="150000"/>
              </a:lnSpc>
              <a:spcBef>
                <a:spcPts val="0"/>
              </a:spcBef>
              <a:spcAft>
                <a:spcPts val="0"/>
              </a:spcAft>
              <a:buClr>
                <a:schemeClr val="dk1"/>
              </a:buClr>
              <a:buSzPts val="2000"/>
              <a:buFont typeface="Calibri"/>
              <a:buAutoNum type="arabicPeriod"/>
            </a:pPr>
            <a:r>
              <a:rPr lang="en-US" sz="2000" b="0" i="0" u="none" strike="noStrike" cap="none">
                <a:solidFill>
                  <a:schemeClr val="dk1"/>
                </a:solidFill>
                <a:latin typeface="Calibri"/>
                <a:ea typeface="Calibri"/>
                <a:cs typeface="Calibri"/>
                <a:sym typeface="Calibri"/>
              </a:rPr>
              <a:t>Design and Development-Software /Hardware</a:t>
            </a:r>
            <a:endParaRPr sz="2000" b="0" i="0" u="none" strike="noStrike" cap="none">
              <a:solidFill>
                <a:schemeClr val="dk1"/>
              </a:solidFill>
              <a:latin typeface="Calibri"/>
              <a:ea typeface="Calibri"/>
              <a:cs typeface="Calibri"/>
              <a:sym typeface="Calibri"/>
            </a:endParaRPr>
          </a:p>
          <a:p>
            <a:pPr marL="457200" marR="0" lvl="0" indent="-457200" algn="l" rtl="0">
              <a:lnSpc>
                <a:spcPct val="150000"/>
              </a:lnSpc>
              <a:spcBef>
                <a:spcPts val="0"/>
              </a:spcBef>
              <a:spcAft>
                <a:spcPts val="0"/>
              </a:spcAft>
              <a:buClr>
                <a:schemeClr val="dk1"/>
              </a:buClr>
              <a:buSzPts val="2000"/>
              <a:buFont typeface="Calibri"/>
              <a:buAutoNum type="arabicPeriod"/>
            </a:pPr>
            <a:r>
              <a:rPr lang="en-US" sz="2000">
                <a:solidFill>
                  <a:schemeClr val="dk1"/>
                </a:solidFill>
                <a:latin typeface="Calibri"/>
                <a:ea typeface="Calibri"/>
                <a:cs typeface="Calibri"/>
                <a:sym typeface="Calibri"/>
              </a:rPr>
              <a:t>Methodology</a:t>
            </a:r>
            <a:endParaRPr sz="2000">
              <a:solidFill>
                <a:schemeClr val="dk1"/>
              </a:solidFill>
              <a:latin typeface="Calibri"/>
              <a:ea typeface="Calibri"/>
              <a:cs typeface="Calibri"/>
              <a:sym typeface="Calibri"/>
            </a:endParaRPr>
          </a:p>
          <a:p>
            <a:pPr marL="457200" marR="0" lvl="0" indent="-457200" algn="l" rtl="0">
              <a:lnSpc>
                <a:spcPct val="150000"/>
              </a:lnSpc>
              <a:spcBef>
                <a:spcPts val="0"/>
              </a:spcBef>
              <a:spcAft>
                <a:spcPts val="0"/>
              </a:spcAft>
              <a:buClr>
                <a:schemeClr val="dk1"/>
              </a:buClr>
              <a:buSzPts val="2000"/>
              <a:buFont typeface="Calibri"/>
              <a:buAutoNum type="arabicPeriod"/>
            </a:pPr>
            <a:r>
              <a:rPr lang="en-US" sz="2000" b="0" i="0" u="none" strike="noStrike" cap="none">
                <a:solidFill>
                  <a:schemeClr val="dk1"/>
                </a:solidFill>
                <a:latin typeface="Calibri"/>
                <a:ea typeface="Calibri"/>
                <a:cs typeface="Calibri"/>
                <a:sym typeface="Calibri"/>
              </a:rPr>
              <a:t>Result Analysis in Real Time Hardware Demo / Simulation </a:t>
            </a:r>
            <a:endParaRPr/>
          </a:p>
          <a:p>
            <a:pPr marL="457200" marR="0" lvl="0" indent="-457200" algn="l" rtl="0">
              <a:lnSpc>
                <a:spcPct val="150000"/>
              </a:lnSpc>
              <a:spcBef>
                <a:spcPts val="0"/>
              </a:spcBef>
              <a:spcAft>
                <a:spcPts val="0"/>
              </a:spcAft>
              <a:buClr>
                <a:schemeClr val="dk1"/>
              </a:buClr>
              <a:buSzPts val="2000"/>
              <a:buFont typeface="Calibri"/>
              <a:buAutoNum type="arabicPeriod"/>
            </a:pPr>
            <a:r>
              <a:rPr lang="en-US" sz="2000" b="0" i="0" u="none" strike="noStrike" cap="none">
                <a:solidFill>
                  <a:schemeClr val="dk1"/>
                </a:solidFill>
                <a:latin typeface="Calibri"/>
                <a:ea typeface="Calibri"/>
                <a:cs typeface="Calibri"/>
                <a:sym typeface="Calibri"/>
              </a:rPr>
              <a:t>Limitation and Applications </a:t>
            </a:r>
            <a:endParaRPr sz="2000" b="0" i="0" u="none" strike="noStrike" cap="none">
              <a:solidFill>
                <a:schemeClr val="dk1"/>
              </a:solidFill>
              <a:latin typeface="Calibri"/>
              <a:ea typeface="Calibri"/>
              <a:cs typeface="Calibri"/>
              <a:sym typeface="Calibri"/>
            </a:endParaRPr>
          </a:p>
          <a:p>
            <a:pPr marL="457200" marR="0" lvl="0" indent="-457200" algn="l" rtl="0">
              <a:lnSpc>
                <a:spcPct val="150000"/>
              </a:lnSpc>
              <a:spcBef>
                <a:spcPts val="0"/>
              </a:spcBef>
              <a:spcAft>
                <a:spcPts val="0"/>
              </a:spcAft>
              <a:buClr>
                <a:schemeClr val="dk1"/>
              </a:buClr>
              <a:buSzPts val="2000"/>
              <a:buFont typeface="Calibri"/>
              <a:buAutoNum type="arabicPeriod"/>
            </a:pPr>
            <a:r>
              <a:rPr lang="en-US" sz="2000" b="0" i="0" u="none" strike="noStrike" cap="none">
                <a:solidFill>
                  <a:schemeClr val="dk1"/>
                </a:solidFill>
                <a:latin typeface="Calibri"/>
                <a:ea typeface="Calibri"/>
                <a:cs typeface="Calibri"/>
                <a:sym typeface="Calibri"/>
              </a:rPr>
              <a:t>Conclusion and Future Scope</a:t>
            </a:r>
            <a:endParaRPr/>
          </a:p>
          <a:p>
            <a:pPr marL="457200" marR="0" lvl="0" indent="-457200" algn="l" rtl="0">
              <a:lnSpc>
                <a:spcPct val="150000"/>
              </a:lnSpc>
              <a:spcBef>
                <a:spcPts val="0"/>
              </a:spcBef>
              <a:spcAft>
                <a:spcPts val="0"/>
              </a:spcAft>
              <a:buClr>
                <a:schemeClr val="dk1"/>
              </a:buClr>
              <a:buSzPts val="2000"/>
              <a:buFont typeface="Calibri"/>
              <a:buAutoNum type="arabicPeriod"/>
            </a:pPr>
            <a:r>
              <a:rPr lang="en-US" sz="2000" b="0" i="0" u="none" strike="noStrike" cap="none">
                <a:solidFill>
                  <a:schemeClr val="dk1"/>
                </a:solidFill>
                <a:latin typeface="Calibri"/>
                <a:ea typeface="Calibri"/>
                <a:cs typeface="Calibri"/>
                <a:sym typeface="Calibri"/>
              </a:rPr>
              <a:t>References</a:t>
            </a:r>
            <a:endParaRPr/>
          </a:p>
          <a:p>
            <a:pPr marL="457200" marR="0" lvl="0" indent="0" algn="l" rtl="0">
              <a:lnSpc>
                <a:spcPct val="150000"/>
              </a:lnSpc>
              <a:spcBef>
                <a:spcPts val="0"/>
              </a:spcBef>
              <a:spcAft>
                <a:spcPts val="0"/>
              </a:spcAft>
              <a:buNone/>
            </a:pPr>
            <a:br>
              <a:rPr lang="en-US" sz="3200" b="0" i="0" u="none" strike="noStrike" cap="none">
                <a:solidFill>
                  <a:schemeClr val="dk1"/>
                </a:solidFill>
                <a:latin typeface="Calibri"/>
                <a:ea typeface="Calibri"/>
                <a:cs typeface="Calibri"/>
                <a:sym typeface="Calibri"/>
              </a:rPr>
            </a:br>
            <a:r>
              <a:rPr lang="en-US" sz="3200" b="0" i="0" u="none" strike="noStrike" cap="none">
                <a:solidFill>
                  <a:schemeClr val="dk1"/>
                </a:solidFill>
                <a:latin typeface="Calibri"/>
                <a:ea typeface="Calibri"/>
                <a:cs typeface="Calibri"/>
                <a:sym typeface="Calibri"/>
              </a:rPr>
              <a:t> </a:t>
            </a:r>
            <a:endParaRPr/>
          </a:p>
        </p:txBody>
      </p:sp>
      <p:pic>
        <p:nvPicPr>
          <p:cNvPr id="106" name="Google Shape;106;p14" descr="A close up of a sign&#10;&#10;Description automatically generated"/>
          <p:cNvPicPr preferRelativeResize="0"/>
          <p:nvPr/>
        </p:nvPicPr>
        <p:blipFill rotWithShape="1">
          <a:blip r:embed="rId3">
            <a:alphaModFix/>
          </a:blip>
          <a:srcRect/>
          <a:stretch/>
        </p:blipFill>
        <p:spPr>
          <a:xfrm>
            <a:off x="0" y="0"/>
            <a:ext cx="3021519" cy="609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5"/>
          <p:cNvSpPr txBox="1">
            <a:spLocks noGrp="1"/>
          </p:cNvSpPr>
          <p:nvPr>
            <p:ph type="title"/>
          </p:nvPr>
        </p:nvSpPr>
        <p:spPr>
          <a:xfrm>
            <a:off x="2819400" y="228600"/>
            <a:ext cx="4800600" cy="609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ct val="100000"/>
              <a:buFont typeface="Calibri"/>
              <a:buNone/>
            </a:pPr>
            <a:r>
              <a:rPr lang="en-US"/>
              <a:t>   </a:t>
            </a:r>
            <a:r>
              <a:rPr lang="en-US" b="1"/>
              <a:t>Introduction</a:t>
            </a:r>
            <a:endParaRPr b="1"/>
          </a:p>
        </p:txBody>
      </p:sp>
      <p:sp>
        <p:nvSpPr>
          <p:cNvPr id="113" name="Google Shape;113;p15"/>
          <p:cNvSpPr txBox="1">
            <a:spLocks noGrp="1"/>
          </p:cNvSpPr>
          <p:nvPr>
            <p:ph type="dt" sz="half" idx="10"/>
          </p:nvPr>
        </p:nvSpPr>
        <p:spPr>
          <a:xfrm>
            <a:off x="0" y="6492875"/>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6/8/2022</a:t>
            </a:r>
            <a:endParaRPr/>
          </a:p>
        </p:txBody>
      </p:sp>
      <p:sp>
        <p:nvSpPr>
          <p:cNvPr id="117" name="Google Shape;117;p15"/>
          <p:cNvSpPr txBox="1">
            <a:spLocks noGrp="1"/>
          </p:cNvSpPr>
          <p:nvPr>
            <p:ph type="ftr" sz="quarter" idx="11"/>
          </p:nvPr>
        </p:nvSpPr>
        <p:spPr>
          <a:xfrm>
            <a:off x="1676400" y="6356350"/>
            <a:ext cx="6553200" cy="50165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Electronics &amp; Communication Engineering, Project Review Phase - II, 2018 – 22 Batch</a:t>
            </a:r>
            <a:endParaRPr/>
          </a:p>
        </p:txBody>
      </p:sp>
      <p:sp>
        <p:nvSpPr>
          <p:cNvPr id="114" name="Google Shape;114;p1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115" name="Google Shape;115;p15"/>
          <p:cNvSpPr txBox="1"/>
          <p:nvPr/>
        </p:nvSpPr>
        <p:spPr>
          <a:xfrm>
            <a:off x="225425" y="1341774"/>
            <a:ext cx="8707500" cy="4784400"/>
          </a:xfrm>
          <a:prstGeom prst="rect">
            <a:avLst/>
          </a:prstGeom>
          <a:noFill/>
          <a:ln>
            <a:noFill/>
          </a:ln>
        </p:spPr>
        <p:txBody>
          <a:bodyPr spcFirstLastPara="1" wrap="square" lIns="91425" tIns="45700" rIns="91425" bIns="45700" anchor="t" anchorCtr="0">
            <a:noAutofit/>
          </a:bodyPr>
          <a:lstStyle/>
          <a:p>
            <a:pPr marL="457200" lvl="0" indent="-330200" algn="just" rtl="0">
              <a:lnSpc>
                <a:spcPct val="1150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During this era of technology and automation we are still using the same old ways of attendance</a:t>
            </a:r>
            <a:endParaRPr sz="16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en-US" sz="1600">
                <a:solidFill>
                  <a:schemeClr val="dk1"/>
                </a:solidFill>
                <a:latin typeface="Calibri"/>
                <a:ea typeface="Calibri"/>
                <a:cs typeface="Calibri"/>
                <a:sym typeface="Calibri"/>
              </a:rPr>
              <a:t>      	management.</a:t>
            </a:r>
            <a:endParaRPr sz="1600">
              <a:solidFill>
                <a:schemeClr val="dk1"/>
              </a:solidFill>
              <a:latin typeface="Calibri"/>
              <a:ea typeface="Calibri"/>
              <a:cs typeface="Calibri"/>
              <a:sym typeface="Calibri"/>
            </a:endParaRPr>
          </a:p>
          <a:p>
            <a:pPr marL="457200" lvl="0" indent="-330200" algn="just" rtl="0">
              <a:lnSpc>
                <a:spcPct val="1150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The most important thing in the classroom/office is attendance which is directly linked to the</a:t>
            </a:r>
            <a:endParaRPr sz="1600">
              <a:solidFill>
                <a:schemeClr val="dk1"/>
              </a:solidFill>
              <a:latin typeface="Calibri"/>
              <a:ea typeface="Calibri"/>
              <a:cs typeface="Calibri"/>
              <a:sym typeface="Calibri"/>
            </a:endParaRPr>
          </a:p>
          <a:p>
            <a:pPr marL="457200" marR="0" lvl="0" indent="-457200" algn="just" rtl="0">
              <a:lnSpc>
                <a:spcPct val="150000"/>
              </a:lnSpc>
              <a:spcBef>
                <a:spcPts val="0"/>
              </a:spcBef>
              <a:spcAft>
                <a:spcPts val="0"/>
              </a:spcAft>
              <a:buNone/>
            </a:pPr>
            <a:r>
              <a:rPr lang="en-US" sz="1600">
                <a:solidFill>
                  <a:schemeClr val="dk1"/>
                </a:solidFill>
                <a:latin typeface="Calibri"/>
                <a:ea typeface="Calibri"/>
                <a:cs typeface="Calibri"/>
                <a:sym typeface="Calibri"/>
              </a:rPr>
              <a:t>        academic performance of the students/employees</a:t>
            </a:r>
            <a:endParaRPr sz="1600">
              <a:solidFill>
                <a:schemeClr val="dk1"/>
              </a:solidFill>
              <a:latin typeface="Calibri"/>
              <a:ea typeface="Calibri"/>
              <a:cs typeface="Calibri"/>
              <a:sym typeface="Calibri"/>
            </a:endParaRPr>
          </a:p>
          <a:p>
            <a:pPr marL="457200" lvl="0" indent="-330200" algn="just" rtl="0">
              <a:lnSpc>
                <a:spcPct val="1150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In the past we were using techniques like roll numbering calling and signing against a particular </a:t>
            </a:r>
            <a:endParaRPr sz="1600">
              <a:solidFill>
                <a:schemeClr val="dk1"/>
              </a:solidFill>
              <a:latin typeface="Calibri"/>
              <a:ea typeface="Calibri"/>
              <a:cs typeface="Calibri"/>
              <a:sym typeface="Calibri"/>
            </a:endParaRPr>
          </a:p>
          <a:p>
            <a:pPr marL="457200" marR="0" lvl="0" indent="-457200" algn="just" rtl="0">
              <a:lnSpc>
                <a:spcPct val="150000"/>
              </a:lnSpc>
              <a:spcBef>
                <a:spcPts val="0"/>
              </a:spcBef>
              <a:spcAft>
                <a:spcPts val="0"/>
              </a:spcAft>
              <a:buNone/>
            </a:pPr>
            <a:r>
              <a:rPr lang="en-US" sz="1600">
                <a:solidFill>
                  <a:schemeClr val="dk1"/>
                </a:solidFill>
                <a:latin typeface="Calibri"/>
                <a:ea typeface="Calibri"/>
                <a:cs typeface="Calibri"/>
                <a:sym typeface="Calibri"/>
              </a:rPr>
              <a:t>         roll number. These methods carry a high chance of proxy and are time consuming</a:t>
            </a:r>
            <a:endParaRPr sz="1600">
              <a:solidFill>
                <a:schemeClr val="dk1"/>
              </a:solidFill>
              <a:latin typeface="Calibri"/>
              <a:ea typeface="Calibri"/>
              <a:cs typeface="Calibri"/>
              <a:sym typeface="Calibri"/>
            </a:endParaRPr>
          </a:p>
          <a:p>
            <a:pPr marL="457200" lvl="0" indent="-330200" algn="just" rtl="0">
              <a:lnSpc>
                <a:spcPct val="1150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We came across are the idea of automating this process through modern day technologies to get</a:t>
            </a:r>
            <a:endParaRPr sz="16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en-US" sz="1600">
                <a:solidFill>
                  <a:schemeClr val="dk1"/>
                </a:solidFill>
                <a:latin typeface="Calibri"/>
                <a:ea typeface="Calibri"/>
                <a:cs typeface="Calibri"/>
                <a:sym typeface="Calibri"/>
              </a:rPr>
              <a:t>      	a well maintained and disciplined attendance,</a:t>
            </a:r>
            <a:endParaRPr sz="1600">
              <a:solidFill>
                <a:schemeClr val="dk1"/>
              </a:solidFill>
              <a:latin typeface="Calibri"/>
              <a:ea typeface="Calibri"/>
              <a:cs typeface="Calibri"/>
              <a:sym typeface="Calibri"/>
            </a:endParaRPr>
          </a:p>
          <a:p>
            <a:pPr marL="457200" lvl="0" indent="-330200" algn="just" rtl="0">
              <a:lnSpc>
                <a:spcPct val="1150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Facial recognition systems along with suitable hardware and software will help meet the goals of</a:t>
            </a:r>
            <a:endParaRPr sz="16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en-US" sz="1600">
                <a:solidFill>
                  <a:schemeClr val="dk1"/>
                </a:solidFill>
                <a:latin typeface="Calibri"/>
                <a:ea typeface="Calibri"/>
                <a:cs typeface="Calibri"/>
                <a:sym typeface="Calibri"/>
              </a:rPr>
              <a:t>     	this project.</a:t>
            </a:r>
            <a:endParaRPr sz="1600">
              <a:solidFill>
                <a:schemeClr val="dk1"/>
              </a:solidFill>
              <a:latin typeface="Calibri"/>
              <a:ea typeface="Calibri"/>
              <a:cs typeface="Calibri"/>
              <a:sym typeface="Calibri"/>
            </a:endParaRPr>
          </a:p>
          <a:p>
            <a:pPr marL="457200" lvl="0" indent="-330200" algn="just" rtl="0">
              <a:lnSpc>
                <a:spcPct val="1150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That information from image processing will play a great role and help in various walks of life where it could be implemented.                 </a:t>
            </a:r>
            <a:endParaRPr sz="1600">
              <a:solidFill>
                <a:schemeClr val="dk1"/>
              </a:solidFill>
              <a:latin typeface="Calibri"/>
              <a:ea typeface="Calibri"/>
              <a:cs typeface="Calibri"/>
              <a:sym typeface="Calibri"/>
            </a:endParaRPr>
          </a:p>
          <a:p>
            <a:pPr marL="457200" lvl="0" indent="-330200" algn="just" rtl="0">
              <a:lnSpc>
                <a:spcPct val="1150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Our facial structure was a typical example of a multidimensional structure and needed some recognition from advanced computational analysis.</a:t>
            </a:r>
            <a:endParaRPr sz="1600">
              <a:solidFill>
                <a:schemeClr val="dk1"/>
              </a:solidFill>
              <a:latin typeface="Calibri"/>
              <a:ea typeface="Calibri"/>
              <a:cs typeface="Calibri"/>
              <a:sym typeface="Calibri"/>
            </a:endParaRPr>
          </a:p>
          <a:p>
            <a:pPr marL="457200" marR="0" lvl="0" indent="-457200" algn="l" rtl="0">
              <a:lnSpc>
                <a:spcPct val="150000"/>
              </a:lnSpc>
              <a:spcBef>
                <a:spcPts val="0"/>
              </a:spcBef>
              <a:spcAft>
                <a:spcPts val="0"/>
              </a:spcAft>
              <a:buNone/>
            </a:pPr>
            <a:endParaRPr sz="1600">
              <a:solidFill>
                <a:schemeClr val="dk1"/>
              </a:solidFill>
              <a:latin typeface="Calibri"/>
              <a:ea typeface="Calibri"/>
              <a:cs typeface="Calibri"/>
              <a:sym typeface="Calibri"/>
            </a:endParaRPr>
          </a:p>
        </p:txBody>
      </p:sp>
      <p:pic>
        <p:nvPicPr>
          <p:cNvPr id="116" name="Google Shape;116;p15" descr="A close up of a sign&#10;&#10;Description automatically generated"/>
          <p:cNvPicPr preferRelativeResize="0"/>
          <p:nvPr/>
        </p:nvPicPr>
        <p:blipFill rotWithShape="1">
          <a:blip r:embed="rId3">
            <a:alphaModFix/>
          </a:blip>
          <a:srcRect/>
          <a:stretch/>
        </p:blipFill>
        <p:spPr>
          <a:xfrm>
            <a:off x="0" y="0"/>
            <a:ext cx="3021519" cy="609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6"/>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a:t>Introduction</a:t>
            </a:r>
            <a:endParaRPr/>
          </a:p>
        </p:txBody>
      </p:sp>
      <p:sp>
        <p:nvSpPr>
          <p:cNvPr id="126" name="Google Shape;126;p16"/>
          <p:cNvSpPr txBox="1">
            <a:spLocks noGrp="1"/>
          </p:cNvSpPr>
          <p:nvPr>
            <p:ph idx="1"/>
          </p:nvPr>
        </p:nvSpPr>
        <p:spPr>
          <a:prstGeom prst="rect">
            <a:avLst/>
          </a:prstGeom>
        </p:spPr>
        <p:txBody>
          <a:bodyPr spcFirstLastPara="1" wrap="square" lIns="91425" tIns="45700" rIns="91425" bIns="45700" anchor="t" anchorCtr="0">
            <a:normAutofit/>
          </a:bodyPr>
          <a:lstStyle/>
          <a:p>
            <a:pPr marL="457200" lvl="0" indent="-349250" algn="l" rtl="0">
              <a:spcBef>
                <a:spcPts val="360"/>
              </a:spcBef>
              <a:spcAft>
                <a:spcPts val="0"/>
              </a:spcAft>
              <a:buSzPts val="1900"/>
              <a:buChar char="•"/>
            </a:pPr>
            <a:r>
              <a:rPr lang="en-US" sz="1900"/>
              <a:t>The applications of image processing are vast and can be applied in most scenarios where imaging data could be related to pre-determined algorithms. It was an advanced application of image processing and also is the core basis for our project. Our facial structure was a typical example of a multidimensional structure and needed some recognition from advanced computational analysis.</a:t>
            </a:r>
            <a:endParaRPr sz="1900"/>
          </a:p>
          <a:p>
            <a:pPr marL="457200" lvl="0" indent="-349250" algn="l" rtl="0">
              <a:spcBef>
                <a:spcPts val="0"/>
              </a:spcBef>
              <a:spcAft>
                <a:spcPts val="0"/>
              </a:spcAft>
              <a:buSzPts val="1900"/>
              <a:buChar char="•"/>
            </a:pPr>
            <a:r>
              <a:rPr lang="en-US" sz="1900"/>
              <a:t>Our core focus will be on receiving digital Images and then making use of programs and algorithms to get useful Information out of it. As the pictorial information is for the image processing work on it and make it human interpretation. That information from image processing will play a great role and help in various walks of life where it could be implemented.</a:t>
            </a:r>
            <a:endParaRPr sz="1900"/>
          </a:p>
        </p:txBody>
      </p:sp>
      <p:sp>
        <p:nvSpPr>
          <p:cNvPr id="124" name="Google Shape;124;p16"/>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pic>
        <p:nvPicPr>
          <p:cNvPr id="125" name="Google Shape;125;p16" descr="A close up of a sign&#10;&#10;Description automatically generated"/>
          <p:cNvPicPr preferRelativeResize="0"/>
          <p:nvPr/>
        </p:nvPicPr>
        <p:blipFill rotWithShape="1">
          <a:blip r:embed="rId3">
            <a:alphaModFix/>
          </a:blip>
          <a:srcRect/>
          <a:stretch/>
        </p:blipFill>
        <p:spPr>
          <a:xfrm>
            <a:off x="0" y="0"/>
            <a:ext cx="3021519" cy="609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7"/>
          <p:cNvSpPr txBox="1">
            <a:spLocks noGrp="1"/>
          </p:cNvSpPr>
          <p:nvPr>
            <p:ph type="title"/>
          </p:nvPr>
        </p:nvSpPr>
        <p:spPr>
          <a:xfrm>
            <a:off x="457200" y="609599"/>
            <a:ext cx="8229600" cy="446400"/>
          </a:xfrm>
          <a:prstGeom prst="rect">
            <a:avLst/>
          </a:prstGeom>
        </p:spPr>
        <p:txBody>
          <a:bodyPr spcFirstLastPara="1" wrap="square" lIns="91425" tIns="45700" rIns="91425" bIns="45700" anchor="ctr" anchorCtr="0">
            <a:normAutofit fontScale="90000"/>
          </a:bodyPr>
          <a:lstStyle/>
          <a:p>
            <a:pPr marL="0" lvl="0" indent="0" algn="ctr" rtl="0">
              <a:spcBef>
                <a:spcPts val="0"/>
              </a:spcBef>
              <a:spcAft>
                <a:spcPts val="0"/>
              </a:spcAft>
              <a:buNone/>
            </a:pPr>
            <a:r>
              <a:rPr lang="en-US" b="1"/>
              <a:t>Literature Review</a:t>
            </a:r>
            <a:endParaRPr b="1"/>
          </a:p>
        </p:txBody>
      </p:sp>
      <p:sp>
        <p:nvSpPr>
          <p:cNvPr id="133" name="Google Shape;133;p17"/>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pic>
        <p:nvPicPr>
          <p:cNvPr id="134" name="Google Shape;134;p17" descr="A close up of a sign&#10;&#10;Description automatically generated"/>
          <p:cNvPicPr preferRelativeResize="0"/>
          <p:nvPr/>
        </p:nvPicPr>
        <p:blipFill rotWithShape="1">
          <a:blip r:embed="rId3">
            <a:alphaModFix/>
          </a:blip>
          <a:srcRect/>
          <a:stretch/>
        </p:blipFill>
        <p:spPr>
          <a:xfrm>
            <a:off x="0" y="0"/>
            <a:ext cx="3021519" cy="609600"/>
          </a:xfrm>
          <a:prstGeom prst="rect">
            <a:avLst/>
          </a:prstGeom>
          <a:noFill/>
          <a:ln>
            <a:noFill/>
          </a:ln>
        </p:spPr>
      </p:pic>
      <p:sp>
        <p:nvSpPr>
          <p:cNvPr id="135" name="Google Shape;135;p17"/>
          <p:cNvSpPr txBox="1"/>
          <p:nvPr/>
        </p:nvSpPr>
        <p:spPr>
          <a:xfrm>
            <a:off x="1012500" y="1225828"/>
            <a:ext cx="7236600" cy="446400"/>
          </a:xfrm>
          <a:prstGeom prst="rect">
            <a:avLst/>
          </a:prstGeom>
          <a:noFill/>
          <a:ln>
            <a:noFill/>
          </a:ln>
        </p:spPr>
        <p:txBody>
          <a:bodyPr spcFirstLastPara="1" wrap="square" lIns="91425" tIns="91425" rIns="91425" bIns="91425" anchor="t" anchorCtr="0">
            <a:spAutoFit/>
          </a:bodyPr>
          <a:lstStyle/>
          <a:p>
            <a:pPr marL="457200" marR="76200" lvl="0" indent="0" algn="l" rtl="0">
              <a:lnSpc>
                <a:spcPct val="116000"/>
              </a:lnSpc>
              <a:spcBef>
                <a:spcPts val="300"/>
              </a:spcBef>
              <a:spcAft>
                <a:spcPts val="600"/>
              </a:spcAft>
              <a:buNone/>
            </a:pPr>
            <a:r>
              <a:rPr lang="en-US" sz="1700" b="1">
                <a:solidFill>
                  <a:schemeClr val="dk1"/>
                </a:solidFill>
                <a:latin typeface="Times New Roman"/>
                <a:ea typeface="Times New Roman"/>
                <a:cs typeface="Times New Roman"/>
                <a:sym typeface="Times New Roman"/>
              </a:rPr>
              <a:t>IEEE Publication research papers are used as primary sources </a:t>
            </a:r>
            <a:endParaRPr sz="1700" b="1">
              <a:solidFill>
                <a:schemeClr val="dk1"/>
              </a:solidFill>
              <a:latin typeface="Times New Roman"/>
              <a:ea typeface="Times New Roman"/>
              <a:cs typeface="Times New Roman"/>
              <a:sym typeface="Times New Roman"/>
            </a:endParaRPr>
          </a:p>
        </p:txBody>
      </p:sp>
      <p:graphicFrame>
        <p:nvGraphicFramePr>
          <p:cNvPr id="136" name="Google Shape;136;p17"/>
          <p:cNvGraphicFramePr/>
          <p:nvPr/>
        </p:nvGraphicFramePr>
        <p:xfrm>
          <a:off x="243475" y="1847900"/>
          <a:ext cx="8693400" cy="4675150"/>
        </p:xfrm>
        <a:graphic>
          <a:graphicData uri="http://schemas.openxmlformats.org/drawingml/2006/table">
            <a:tbl>
              <a:tblPr>
                <a:noFill/>
                <a:tableStyleId>{19F895B0-6077-40BC-990C-EDC00ABF24FE}</a:tableStyleId>
              </a:tblPr>
              <a:tblGrid>
                <a:gridCol w="1626325">
                  <a:extLst>
                    <a:ext uri="{9D8B030D-6E8A-4147-A177-3AD203B41FA5}">
                      <a16:colId xmlns:a16="http://schemas.microsoft.com/office/drawing/2014/main" val="20000"/>
                    </a:ext>
                  </a:extLst>
                </a:gridCol>
                <a:gridCol w="1774175">
                  <a:extLst>
                    <a:ext uri="{9D8B030D-6E8A-4147-A177-3AD203B41FA5}">
                      <a16:colId xmlns:a16="http://schemas.microsoft.com/office/drawing/2014/main" val="20001"/>
                    </a:ext>
                  </a:extLst>
                </a:gridCol>
                <a:gridCol w="1907225">
                  <a:extLst>
                    <a:ext uri="{9D8B030D-6E8A-4147-A177-3AD203B41FA5}">
                      <a16:colId xmlns:a16="http://schemas.microsoft.com/office/drawing/2014/main" val="20002"/>
                    </a:ext>
                  </a:extLst>
                </a:gridCol>
                <a:gridCol w="1759350">
                  <a:extLst>
                    <a:ext uri="{9D8B030D-6E8A-4147-A177-3AD203B41FA5}">
                      <a16:colId xmlns:a16="http://schemas.microsoft.com/office/drawing/2014/main" val="20003"/>
                    </a:ext>
                  </a:extLst>
                </a:gridCol>
                <a:gridCol w="1626325">
                  <a:extLst>
                    <a:ext uri="{9D8B030D-6E8A-4147-A177-3AD203B41FA5}">
                      <a16:colId xmlns:a16="http://schemas.microsoft.com/office/drawing/2014/main" val="20004"/>
                    </a:ext>
                  </a:extLst>
                </a:gridCol>
              </a:tblGrid>
              <a:tr h="526050">
                <a:tc>
                  <a:txBody>
                    <a:bodyPr/>
                    <a:lstStyle/>
                    <a:p>
                      <a:pPr marL="0" lvl="0" indent="0" algn="l" rtl="0">
                        <a:lnSpc>
                          <a:spcPct val="115000"/>
                        </a:lnSpc>
                        <a:spcBef>
                          <a:spcPts val="1200"/>
                        </a:spcBef>
                        <a:spcAft>
                          <a:spcPts val="0"/>
                        </a:spcAft>
                        <a:buNone/>
                      </a:pPr>
                      <a:r>
                        <a:rPr lang="en-US"/>
                        <a:t>Paper Name</a:t>
                      </a:r>
                      <a:endParaRPr/>
                    </a:p>
                  </a:txBody>
                  <a:tcPr marL="68575" marR="68575" marT="91425" marB="91425">
                    <a:lnL w="12625" cap="flat" cmpd="sng">
                      <a:solidFill>
                        <a:srgbClr val="000000"/>
                      </a:solidFill>
                      <a:prstDash val="solid"/>
                      <a:round/>
                      <a:headEnd type="none" w="sm" len="sm"/>
                      <a:tailEnd type="none" w="sm" len="sm"/>
                    </a:lnL>
                    <a:lnR w="12625" cap="flat" cmpd="sng">
                      <a:solidFill>
                        <a:srgbClr val="000000"/>
                      </a:solidFill>
                      <a:prstDash val="solid"/>
                      <a:round/>
                      <a:headEnd type="none" w="sm" len="sm"/>
                      <a:tailEnd type="none" w="sm" len="sm"/>
                    </a:lnR>
                    <a:lnT w="12625" cap="flat" cmpd="sng">
                      <a:solidFill>
                        <a:srgbClr val="000000"/>
                      </a:solidFill>
                      <a:prstDash val="solid"/>
                      <a:round/>
                      <a:headEnd type="none" w="sm" len="sm"/>
                      <a:tailEnd type="none" w="sm" len="sm"/>
                    </a:lnT>
                    <a:lnB w="12625" cap="flat" cmpd="sng">
                      <a:solidFill>
                        <a:srgbClr val="000000"/>
                      </a:solidFill>
                      <a:prstDash val="solid"/>
                      <a:round/>
                      <a:headEnd type="none" w="sm" len="sm"/>
                      <a:tailEnd type="none" w="sm" len="sm"/>
                    </a:lnB>
                    <a:solidFill>
                      <a:srgbClr val="4472C4"/>
                    </a:solidFill>
                  </a:tcPr>
                </a:tc>
                <a:tc>
                  <a:txBody>
                    <a:bodyPr/>
                    <a:lstStyle/>
                    <a:p>
                      <a:pPr marL="0" lvl="0" indent="0" algn="l" rtl="0">
                        <a:lnSpc>
                          <a:spcPct val="115000"/>
                        </a:lnSpc>
                        <a:spcBef>
                          <a:spcPts val="1200"/>
                        </a:spcBef>
                        <a:spcAft>
                          <a:spcPts val="0"/>
                        </a:spcAft>
                        <a:buNone/>
                      </a:pPr>
                      <a:r>
                        <a:rPr lang="en-US"/>
                        <a:t>Author(s)</a:t>
                      </a:r>
                      <a:endParaRPr/>
                    </a:p>
                  </a:txBody>
                  <a:tcPr marL="68575" marR="68575" marT="91425" marB="91425">
                    <a:lnL w="12625" cap="flat" cmpd="sng">
                      <a:solidFill>
                        <a:srgbClr val="000000"/>
                      </a:solidFill>
                      <a:prstDash val="solid"/>
                      <a:round/>
                      <a:headEnd type="none" w="sm" len="sm"/>
                      <a:tailEnd type="none" w="sm" len="sm"/>
                    </a:lnL>
                    <a:lnR w="12625" cap="flat" cmpd="sng">
                      <a:solidFill>
                        <a:srgbClr val="000000"/>
                      </a:solidFill>
                      <a:prstDash val="solid"/>
                      <a:round/>
                      <a:headEnd type="none" w="sm" len="sm"/>
                      <a:tailEnd type="none" w="sm" len="sm"/>
                    </a:lnR>
                    <a:lnT w="12625" cap="flat" cmpd="sng">
                      <a:solidFill>
                        <a:srgbClr val="000000"/>
                      </a:solidFill>
                      <a:prstDash val="solid"/>
                      <a:round/>
                      <a:headEnd type="none" w="sm" len="sm"/>
                      <a:tailEnd type="none" w="sm" len="sm"/>
                    </a:lnT>
                    <a:lnB w="12625" cap="flat" cmpd="sng">
                      <a:solidFill>
                        <a:srgbClr val="000000"/>
                      </a:solidFill>
                      <a:prstDash val="solid"/>
                      <a:round/>
                      <a:headEnd type="none" w="sm" len="sm"/>
                      <a:tailEnd type="none" w="sm" len="sm"/>
                    </a:lnB>
                    <a:solidFill>
                      <a:srgbClr val="4472C4"/>
                    </a:solidFill>
                  </a:tcPr>
                </a:tc>
                <a:tc>
                  <a:txBody>
                    <a:bodyPr/>
                    <a:lstStyle/>
                    <a:p>
                      <a:pPr marL="0" lvl="0" indent="0" algn="l" rtl="0">
                        <a:lnSpc>
                          <a:spcPct val="115000"/>
                        </a:lnSpc>
                        <a:spcBef>
                          <a:spcPts val="1200"/>
                        </a:spcBef>
                        <a:spcAft>
                          <a:spcPts val="0"/>
                        </a:spcAft>
                        <a:buNone/>
                      </a:pPr>
                      <a:r>
                        <a:rPr lang="en-US"/>
                        <a:t>Published year</a:t>
                      </a:r>
                      <a:endParaRPr/>
                    </a:p>
                  </a:txBody>
                  <a:tcPr marL="68575" marR="68575" marT="91425" marB="91425">
                    <a:lnL w="12625" cap="flat" cmpd="sng">
                      <a:solidFill>
                        <a:srgbClr val="000000"/>
                      </a:solidFill>
                      <a:prstDash val="solid"/>
                      <a:round/>
                      <a:headEnd type="none" w="sm" len="sm"/>
                      <a:tailEnd type="none" w="sm" len="sm"/>
                    </a:lnL>
                    <a:lnR w="12625" cap="flat" cmpd="sng">
                      <a:solidFill>
                        <a:srgbClr val="000000"/>
                      </a:solidFill>
                      <a:prstDash val="solid"/>
                      <a:round/>
                      <a:headEnd type="none" w="sm" len="sm"/>
                      <a:tailEnd type="none" w="sm" len="sm"/>
                    </a:lnR>
                    <a:lnT w="12625" cap="flat" cmpd="sng">
                      <a:solidFill>
                        <a:srgbClr val="000000"/>
                      </a:solidFill>
                      <a:prstDash val="solid"/>
                      <a:round/>
                      <a:headEnd type="none" w="sm" len="sm"/>
                      <a:tailEnd type="none" w="sm" len="sm"/>
                    </a:lnT>
                    <a:lnB w="12625" cap="flat" cmpd="sng">
                      <a:solidFill>
                        <a:srgbClr val="000000"/>
                      </a:solidFill>
                      <a:prstDash val="solid"/>
                      <a:round/>
                      <a:headEnd type="none" w="sm" len="sm"/>
                      <a:tailEnd type="none" w="sm" len="sm"/>
                    </a:lnB>
                    <a:solidFill>
                      <a:srgbClr val="4472C4"/>
                    </a:solidFill>
                  </a:tcPr>
                </a:tc>
                <a:tc>
                  <a:txBody>
                    <a:bodyPr/>
                    <a:lstStyle/>
                    <a:p>
                      <a:pPr marL="0" lvl="0" indent="0" algn="l" rtl="0">
                        <a:lnSpc>
                          <a:spcPct val="115000"/>
                        </a:lnSpc>
                        <a:spcBef>
                          <a:spcPts val="1200"/>
                        </a:spcBef>
                        <a:spcAft>
                          <a:spcPts val="0"/>
                        </a:spcAft>
                        <a:buNone/>
                      </a:pPr>
                      <a:r>
                        <a:rPr lang="en-US"/>
                        <a:t>Summary</a:t>
                      </a:r>
                      <a:endParaRPr/>
                    </a:p>
                  </a:txBody>
                  <a:tcPr marL="68575" marR="68575" marT="91425" marB="91425">
                    <a:lnL w="12625" cap="flat" cmpd="sng">
                      <a:solidFill>
                        <a:srgbClr val="000000"/>
                      </a:solidFill>
                      <a:prstDash val="solid"/>
                      <a:round/>
                      <a:headEnd type="none" w="sm" len="sm"/>
                      <a:tailEnd type="none" w="sm" len="sm"/>
                    </a:lnL>
                    <a:lnR w="12625" cap="flat" cmpd="sng">
                      <a:solidFill>
                        <a:srgbClr val="000000"/>
                      </a:solidFill>
                      <a:prstDash val="solid"/>
                      <a:round/>
                      <a:headEnd type="none" w="sm" len="sm"/>
                      <a:tailEnd type="none" w="sm" len="sm"/>
                    </a:lnR>
                    <a:lnT w="12625" cap="flat" cmpd="sng">
                      <a:solidFill>
                        <a:srgbClr val="000000"/>
                      </a:solidFill>
                      <a:prstDash val="solid"/>
                      <a:round/>
                      <a:headEnd type="none" w="sm" len="sm"/>
                      <a:tailEnd type="none" w="sm" len="sm"/>
                    </a:lnT>
                    <a:lnB w="12625" cap="flat" cmpd="sng">
                      <a:solidFill>
                        <a:srgbClr val="000000"/>
                      </a:solidFill>
                      <a:prstDash val="solid"/>
                      <a:round/>
                      <a:headEnd type="none" w="sm" len="sm"/>
                      <a:tailEnd type="none" w="sm" len="sm"/>
                    </a:lnB>
                    <a:solidFill>
                      <a:srgbClr val="4472C4"/>
                    </a:solidFill>
                  </a:tcPr>
                </a:tc>
                <a:tc>
                  <a:txBody>
                    <a:bodyPr/>
                    <a:lstStyle/>
                    <a:p>
                      <a:pPr marL="0" lvl="0" indent="0" algn="l" rtl="0">
                        <a:lnSpc>
                          <a:spcPct val="115000"/>
                        </a:lnSpc>
                        <a:spcBef>
                          <a:spcPts val="1200"/>
                        </a:spcBef>
                        <a:spcAft>
                          <a:spcPts val="0"/>
                        </a:spcAft>
                        <a:buNone/>
                      </a:pPr>
                      <a:r>
                        <a:rPr lang="en-US"/>
                        <a:t>Comments</a:t>
                      </a:r>
                      <a:endParaRPr/>
                    </a:p>
                  </a:txBody>
                  <a:tcPr marL="68575" marR="68575" marT="91425" marB="91425">
                    <a:lnL w="12625" cap="flat" cmpd="sng">
                      <a:solidFill>
                        <a:srgbClr val="000000"/>
                      </a:solidFill>
                      <a:prstDash val="solid"/>
                      <a:round/>
                      <a:headEnd type="none" w="sm" len="sm"/>
                      <a:tailEnd type="none" w="sm" len="sm"/>
                    </a:lnL>
                    <a:lnR w="12625" cap="flat" cmpd="sng">
                      <a:solidFill>
                        <a:srgbClr val="000000"/>
                      </a:solidFill>
                      <a:prstDash val="solid"/>
                      <a:round/>
                      <a:headEnd type="none" w="sm" len="sm"/>
                      <a:tailEnd type="none" w="sm" len="sm"/>
                    </a:lnR>
                    <a:lnT w="12625" cap="flat" cmpd="sng">
                      <a:solidFill>
                        <a:srgbClr val="000000"/>
                      </a:solidFill>
                      <a:prstDash val="solid"/>
                      <a:round/>
                      <a:headEnd type="none" w="sm" len="sm"/>
                      <a:tailEnd type="none" w="sm" len="sm"/>
                    </a:lnT>
                    <a:lnB w="12625" cap="flat" cmpd="sng">
                      <a:solidFill>
                        <a:srgbClr val="000000"/>
                      </a:solidFill>
                      <a:prstDash val="solid"/>
                      <a:round/>
                      <a:headEnd type="none" w="sm" len="sm"/>
                      <a:tailEnd type="none" w="sm" len="sm"/>
                    </a:lnB>
                    <a:solidFill>
                      <a:srgbClr val="4472C4"/>
                    </a:solidFill>
                  </a:tcPr>
                </a:tc>
                <a:extLst>
                  <a:ext uri="{0D108BD9-81ED-4DB2-BD59-A6C34878D82A}">
                    <a16:rowId xmlns:a16="http://schemas.microsoft.com/office/drawing/2014/main" val="10000"/>
                  </a:ext>
                </a:extLst>
              </a:tr>
              <a:tr h="1306425">
                <a:tc>
                  <a:txBody>
                    <a:bodyPr/>
                    <a:lstStyle/>
                    <a:p>
                      <a:pPr marL="0" lvl="0" indent="0" algn="l" rtl="0">
                        <a:lnSpc>
                          <a:spcPct val="115000"/>
                        </a:lnSpc>
                        <a:spcBef>
                          <a:spcPts val="1200"/>
                        </a:spcBef>
                        <a:spcAft>
                          <a:spcPts val="0"/>
                        </a:spcAft>
                        <a:buNone/>
                      </a:pPr>
                      <a:r>
                        <a:rPr lang="en-US">
                          <a:latin typeface="Times New Roman"/>
                          <a:ea typeface="Times New Roman"/>
                          <a:cs typeface="Times New Roman"/>
                          <a:sym typeface="Times New Roman"/>
                        </a:rPr>
                        <a:t>Human Face Detection Techniques</a:t>
                      </a:r>
                      <a:endParaRPr>
                        <a:latin typeface="Times New Roman"/>
                        <a:ea typeface="Times New Roman"/>
                        <a:cs typeface="Times New Roman"/>
                        <a:sym typeface="Times New Roman"/>
                      </a:endParaRPr>
                    </a:p>
                  </a:txBody>
                  <a:tcPr marL="68575" marR="68575" marT="91425" marB="91425">
                    <a:lnL w="12625" cap="flat" cmpd="sng">
                      <a:solidFill>
                        <a:srgbClr val="000000"/>
                      </a:solidFill>
                      <a:prstDash val="solid"/>
                      <a:round/>
                      <a:headEnd type="none" w="sm" len="sm"/>
                      <a:tailEnd type="none" w="sm" len="sm"/>
                    </a:lnL>
                    <a:lnR w="12625" cap="flat" cmpd="sng">
                      <a:solidFill>
                        <a:srgbClr val="000000"/>
                      </a:solidFill>
                      <a:prstDash val="solid"/>
                      <a:round/>
                      <a:headEnd type="none" w="sm" len="sm"/>
                      <a:tailEnd type="none" w="sm" len="sm"/>
                    </a:lnR>
                    <a:lnT w="12625" cap="flat" cmpd="sng">
                      <a:solidFill>
                        <a:srgbClr val="000000"/>
                      </a:solidFill>
                      <a:prstDash val="solid"/>
                      <a:round/>
                      <a:headEnd type="none" w="sm" len="sm"/>
                      <a:tailEnd type="none" w="sm" len="sm"/>
                    </a:lnT>
                    <a:lnB w="126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1300">
                          <a:latin typeface="Times New Roman"/>
                          <a:ea typeface="Times New Roman"/>
                          <a:cs typeface="Times New Roman"/>
                          <a:sym typeface="Times New Roman"/>
                        </a:rPr>
                        <a:t>Md Khaled Hasan, Md. Shamim Ahsan, Abdullah-Al-Mamun, S. H. Shah Newaz.</a:t>
                      </a:r>
                      <a:endParaRPr sz="1300">
                        <a:latin typeface="Times New Roman"/>
                        <a:ea typeface="Times New Roman"/>
                        <a:cs typeface="Times New Roman"/>
                        <a:sym typeface="Times New Roman"/>
                      </a:endParaRPr>
                    </a:p>
                  </a:txBody>
                  <a:tcPr marL="68575" marR="68575" marT="91425" marB="91425">
                    <a:lnL w="12625" cap="flat" cmpd="sng">
                      <a:solidFill>
                        <a:srgbClr val="000000"/>
                      </a:solidFill>
                      <a:prstDash val="solid"/>
                      <a:round/>
                      <a:headEnd type="none" w="sm" len="sm"/>
                      <a:tailEnd type="none" w="sm" len="sm"/>
                    </a:lnL>
                    <a:lnR w="12625" cap="flat" cmpd="sng">
                      <a:solidFill>
                        <a:srgbClr val="000000"/>
                      </a:solidFill>
                      <a:prstDash val="solid"/>
                      <a:round/>
                      <a:headEnd type="none" w="sm" len="sm"/>
                      <a:tailEnd type="none" w="sm" len="sm"/>
                    </a:lnR>
                    <a:lnT w="12625" cap="flat" cmpd="sng">
                      <a:solidFill>
                        <a:srgbClr val="000000"/>
                      </a:solidFill>
                      <a:prstDash val="solid"/>
                      <a:round/>
                      <a:headEnd type="none" w="sm" len="sm"/>
                      <a:tailEnd type="none" w="sm" len="sm"/>
                    </a:lnT>
                    <a:lnB w="126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1600"/>
                        <a:t>   2021</a:t>
                      </a:r>
                      <a:endParaRPr sz="1600"/>
                    </a:p>
                  </a:txBody>
                  <a:tcPr marL="68575" marR="68575" marT="91425" marB="91425">
                    <a:lnL w="12625" cap="flat" cmpd="sng">
                      <a:solidFill>
                        <a:srgbClr val="000000"/>
                      </a:solidFill>
                      <a:prstDash val="solid"/>
                      <a:round/>
                      <a:headEnd type="none" w="sm" len="sm"/>
                      <a:tailEnd type="none" w="sm" len="sm"/>
                    </a:lnL>
                    <a:lnR w="12625" cap="flat" cmpd="sng">
                      <a:solidFill>
                        <a:srgbClr val="000000"/>
                      </a:solidFill>
                      <a:prstDash val="solid"/>
                      <a:round/>
                      <a:headEnd type="none" w="sm" len="sm"/>
                      <a:tailEnd type="none" w="sm" len="sm"/>
                    </a:lnR>
                    <a:lnT w="12625" cap="flat" cmpd="sng">
                      <a:solidFill>
                        <a:srgbClr val="000000"/>
                      </a:solidFill>
                      <a:prstDash val="solid"/>
                      <a:round/>
                      <a:headEnd type="none" w="sm" len="sm"/>
                      <a:tailEnd type="none" w="sm" len="sm"/>
                    </a:lnT>
                    <a:lnB w="126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1100">
                          <a:latin typeface="Times New Roman"/>
                          <a:ea typeface="Times New Roman"/>
                          <a:cs typeface="Times New Roman"/>
                          <a:sym typeface="Times New Roman"/>
                        </a:rPr>
                        <a:t>In this paper an extensive survey on face detection methods, dividing them mainly on feature based and image based approaches</a:t>
                      </a:r>
                      <a:endParaRPr sz="1100">
                        <a:latin typeface="Times New Roman"/>
                        <a:ea typeface="Times New Roman"/>
                        <a:cs typeface="Times New Roman"/>
                        <a:sym typeface="Times New Roman"/>
                      </a:endParaRPr>
                    </a:p>
                  </a:txBody>
                  <a:tcPr marL="68575" marR="68575" marT="91425" marB="91425">
                    <a:lnL w="12625" cap="flat" cmpd="sng">
                      <a:solidFill>
                        <a:srgbClr val="000000"/>
                      </a:solidFill>
                      <a:prstDash val="solid"/>
                      <a:round/>
                      <a:headEnd type="none" w="sm" len="sm"/>
                      <a:tailEnd type="none" w="sm" len="sm"/>
                    </a:lnL>
                    <a:lnR w="12625" cap="flat" cmpd="sng">
                      <a:solidFill>
                        <a:srgbClr val="000000"/>
                      </a:solidFill>
                      <a:prstDash val="solid"/>
                      <a:round/>
                      <a:headEnd type="none" w="sm" len="sm"/>
                      <a:tailEnd type="none" w="sm" len="sm"/>
                    </a:lnR>
                    <a:lnT w="12625" cap="flat" cmpd="sng">
                      <a:solidFill>
                        <a:srgbClr val="000000"/>
                      </a:solidFill>
                      <a:prstDash val="solid"/>
                      <a:round/>
                      <a:headEnd type="none" w="sm" len="sm"/>
                      <a:tailEnd type="none" w="sm" len="sm"/>
                    </a:lnT>
                    <a:lnB w="126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1200">
                          <a:latin typeface="Times New Roman"/>
                          <a:ea typeface="Times New Roman"/>
                          <a:cs typeface="Times New Roman"/>
                          <a:sym typeface="Times New Roman"/>
                        </a:rPr>
                        <a:t>very high performing algorithms and the newest in face detection technology</a:t>
                      </a:r>
                      <a:endParaRPr sz="1200">
                        <a:latin typeface="Times New Roman"/>
                        <a:ea typeface="Times New Roman"/>
                        <a:cs typeface="Times New Roman"/>
                        <a:sym typeface="Times New Roman"/>
                      </a:endParaRPr>
                    </a:p>
                  </a:txBody>
                  <a:tcPr marL="68575" marR="68575" marT="91425" marB="91425">
                    <a:lnL w="12625" cap="flat" cmpd="sng">
                      <a:solidFill>
                        <a:srgbClr val="000000"/>
                      </a:solidFill>
                      <a:prstDash val="solid"/>
                      <a:round/>
                      <a:headEnd type="none" w="sm" len="sm"/>
                      <a:tailEnd type="none" w="sm" len="sm"/>
                    </a:lnL>
                    <a:lnR w="12625" cap="flat" cmpd="sng">
                      <a:solidFill>
                        <a:srgbClr val="000000"/>
                      </a:solidFill>
                      <a:prstDash val="solid"/>
                      <a:round/>
                      <a:headEnd type="none" w="sm" len="sm"/>
                      <a:tailEnd type="none" w="sm" len="sm"/>
                    </a:lnR>
                    <a:lnT w="12625" cap="flat" cmpd="sng">
                      <a:solidFill>
                        <a:srgbClr val="000000"/>
                      </a:solidFill>
                      <a:prstDash val="solid"/>
                      <a:round/>
                      <a:headEnd type="none" w="sm" len="sm"/>
                      <a:tailEnd type="none" w="sm" len="sm"/>
                    </a:lnT>
                    <a:lnB w="126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594550">
                <a:tc>
                  <a:txBody>
                    <a:bodyPr/>
                    <a:lstStyle/>
                    <a:p>
                      <a:pPr marL="0" lvl="0" indent="0" algn="l" rtl="0">
                        <a:lnSpc>
                          <a:spcPct val="115000"/>
                        </a:lnSpc>
                        <a:spcBef>
                          <a:spcPts val="1200"/>
                        </a:spcBef>
                        <a:spcAft>
                          <a:spcPts val="0"/>
                        </a:spcAft>
                        <a:buNone/>
                      </a:pPr>
                      <a:r>
                        <a:rPr lang="en-US" sz="1300">
                          <a:highlight>
                            <a:srgbClr val="FFFFFF"/>
                          </a:highlight>
                          <a:latin typeface="Times New Roman"/>
                          <a:ea typeface="Times New Roman"/>
                          <a:cs typeface="Times New Roman"/>
                          <a:sym typeface="Times New Roman"/>
                        </a:rPr>
                        <a:t>A Review Paper on Face Recognition Methodologies</a:t>
                      </a:r>
                      <a:endParaRPr sz="1300">
                        <a:highlight>
                          <a:srgbClr val="FFFFFF"/>
                        </a:highlight>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1100"/>
                        <a:t> </a:t>
                      </a:r>
                      <a:endParaRPr sz="1100"/>
                    </a:p>
                  </a:txBody>
                  <a:tcPr marL="68575" marR="68575" marT="91425" marB="91425">
                    <a:lnL w="12625" cap="flat" cmpd="sng">
                      <a:solidFill>
                        <a:srgbClr val="000000"/>
                      </a:solidFill>
                      <a:prstDash val="solid"/>
                      <a:round/>
                      <a:headEnd type="none" w="sm" len="sm"/>
                      <a:tailEnd type="none" w="sm" len="sm"/>
                    </a:lnL>
                    <a:lnR w="12625" cap="flat" cmpd="sng">
                      <a:solidFill>
                        <a:srgbClr val="000000"/>
                      </a:solidFill>
                      <a:prstDash val="solid"/>
                      <a:round/>
                      <a:headEnd type="none" w="sm" len="sm"/>
                      <a:tailEnd type="none" w="sm" len="sm"/>
                    </a:lnR>
                    <a:lnT w="12625" cap="flat" cmpd="sng">
                      <a:solidFill>
                        <a:srgbClr val="000000"/>
                      </a:solidFill>
                      <a:prstDash val="solid"/>
                      <a:round/>
                      <a:headEnd type="none" w="sm" len="sm"/>
                      <a:tailEnd type="none" w="sm" len="sm"/>
                    </a:lnT>
                    <a:lnB w="126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1200">
                          <a:highlight>
                            <a:srgbClr val="FFFFFF"/>
                          </a:highlight>
                          <a:latin typeface="Times New Roman"/>
                          <a:ea typeface="Times New Roman"/>
                          <a:cs typeface="Times New Roman"/>
                          <a:sym typeface="Times New Roman"/>
                        </a:rPr>
                        <a:t>Raghuveer Bohara , Gourav Joshi , Hitesh Joshi , Ojas Ingale, Anand Bhosale.</a:t>
                      </a:r>
                      <a:endParaRPr sz="1200">
                        <a:highlight>
                          <a:srgbClr val="FFFFFF"/>
                        </a:highlight>
                        <a:latin typeface="Times New Roman"/>
                        <a:ea typeface="Times New Roman"/>
                        <a:cs typeface="Times New Roman"/>
                        <a:sym typeface="Times New Roman"/>
                      </a:endParaRPr>
                    </a:p>
                  </a:txBody>
                  <a:tcPr marL="68575" marR="68575" marT="91425" marB="91425">
                    <a:lnL w="12625" cap="flat" cmpd="sng">
                      <a:solidFill>
                        <a:srgbClr val="000000"/>
                      </a:solidFill>
                      <a:prstDash val="solid"/>
                      <a:round/>
                      <a:headEnd type="none" w="sm" len="sm"/>
                      <a:tailEnd type="none" w="sm" len="sm"/>
                    </a:lnL>
                    <a:lnR w="12625" cap="flat" cmpd="sng">
                      <a:solidFill>
                        <a:srgbClr val="000000"/>
                      </a:solidFill>
                      <a:prstDash val="solid"/>
                      <a:round/>
                      <a:headEnd type="none" w="sm" len="sm"/>
                      <a:tailEnd type="none" w="sm" len="sm"/>
                    </a:lnR>
                    <a:lnT w="12625" cap="flat" cmpd="sng">
                      <a:solidFill>
                        <a:srgbClr val="000000"/>
                      </a:solidFill>
                      <a:prstDash val="solid"/>
                      <a:round/>
                      <a:headEnd type="none" w="sm" len="sm"/>
                      <a:tailEnd type="none" w="sm" len="sm"/>
                    </a:lnT>
                    <a:lnB w="126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1500"/>
                        <a:t>   </a:t>
                      </a:r>
                      <a:r>
                        <a:rPr lang="en-US" sz="1600"/>
                        <a:t>2020</a:t>
                      </a:r>
                      <a:endParaRPr sz="1600"/>
                    </a:p>
                  </a:txBody>
                  <a:tcPr marL="68575" marR="68575" marT="91425" marB="91425">
                    <a:lnL w="12625" cap="flat" cmpd="sng">
                      <a:solidFill>
                        <a:srgbClr val="000000"/>
                      </a:solidFill>
                      <a:prstDash val="solid"/>
                      <a:round/>
                      <a:headEnd type="none" w="sm" len="sm"/>
                      <a:tailEnd type="none" w="sm" len="sm"/>
                    </a:lnL>
                    <a:lnR w="12625" cap="flat" cmpd="sng">
                      <a:solidFill>
                        <a:srgbClr val="000000"/>
                      </a:solidFill>
                      <a:prstDash val="solid"/>
                      <a:round/>
                      <a:headEnd type="none" w="sm" len="sm"/>
                      <a:tailEnd type="none" w="sm" len="sm"/>
                    </a:lnR>
                    <a:lnT w="12625" cap="flat" cmpd="sng">
                      <a:solidFill>
                        <a:srgbClr val="000000"/>
                      </a:solidFill>
                      <a:prstDash val="solid"/>
                      <a:round/>
                      <a:headEnd type="none" w="sm" len="sm"/>
                      <a:tailEnd type="none" w="sm" len="sm"/>
                    </a:lnT>
                    <a:lnB w="126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1300">
                          <a:latin typeface="Times New Roman"/>
                          <a:ea typeface="Times New Roman"/>
                          <a:cs typeface="Times New Roman"/>
                          <a:sym typeface="Times New Roman"/>
                        </a:rPr>
                        <a:t>This paper revived on different methodologies</a:t>
                      </a:r>
                      <a:endParaRPr sz="13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1300">
                          <a:latin typeface="Times New Roman"/>
                          <a:ea typeface="Times New Roman"/>
                          <a:cs typeface="Times New Roman"/>
                          <a:sym typeface="Times New Roman"/>
                        </a:rPr>
                        <a:t>And different approaches for face recognition</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txBody>
                  <a:tcPr marL="68575" marR="68575" marT="91425" marB="91425">
                    <a:lnL w="12625" cap="flat" cmpd="sng">
                      <a:solidFill>
                        <a:srgbClr val="000000"/>
                      </a:solidFill>
                      <a:prstDash val="solid"/>
                      <a:round/>
                      <a:headEnd type="none" w="sm" len="sm"/>
                      <a:tailEnd type="none" w="sm" len="sm"/>
                    </a:lnL>
                    <a:lnR w="12625" cap="flat" cmpd="sng">
                      <a:solidFill>
                        <a:srgbClr val="000000"/>
                      </a:solidFill>
                      <a:prstDash val="solid"/>
                      <a:round/>
                      <a:headEnd type="none" w="sm" len="sm"/>
                      <a:tailEnd type="none" w="sm" len="sm"/>
                    </a:lnR>
                    <a:lnT w="12625" cap="flat" cmpd="sng">
                      <a:solidFill>
                        <a:srgbClr val="000000"/>
                      </a:solidFill>
                      <a:prstDash val="solid"/>
                      <a:round/>
                      <a:headEnd type="none" w="sm" len="sm"/>
                      <a:tailEnd type="none" w="sm" len="sm"/>
                    </a:lnT>
                    <a:lnB w="126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1300">
                          <a:latin typeface="Times New Roman"/>
                          <a:ea typeface="Times New Roman"/>
                          <a:cs typeface="Times New Roman"/>
                          <a:sym typeface="Times New Roman"/>
                        </a:rPr>
                        <a:t>Uses various practical methods and approaches to achieve</a:t>
                      </a:r>
                      <a:endParaRPr sz="13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1300">
                          <a:latin typeface="Times New Roman"/>
                          <a:ea typeface="Times New Roman"/>
                          <a:cs typeface="Times New Roman"/>
                          <a:sym typeface="Times New Roman"/>
                        </a:rPr>
                        <a:t>Face recognition system</a:t>
                      </a:r>
                      <a:endParaRPr sz="1300">
                        <a:latin typeface="Times New Roman"/>
                        <a:ea typeface="Times New Roman"/>
                        <a:cs typeface="Times New Roman"/>
                        <a:sym typeface="Times New Roman"/>
                      </a:endParaRPr>
                    </a:p>
                  </a:txBody>
                  <a:tcPr marL="68575" marR="68575" marT="91425" marB="91425">
                    <a:lnL w="12625" cap="flat" cmpd="sng">
                      <a:solidFill>
                        <a:srgbClr val="000000"/>
                      </a:solidFill>
                      <a:prstDash val="solid"/>
                      <a:round/>
                      <a:headEnd type="none" w="sm" len="sm"/>
                      <a:tailEnd type="none" w="sm" len="sm"/>
                    </a:lnL>
                    <a:lnR w="12625" cap="flat" cmpd="sng">
                      <a:solidFill>
                        <a:srgbClr val="000000"/>
                      </a:solidFill>
                      <a:prstDash val="solid"/>
                      <a:round/>
                      <a:headEnd type="none" w="sm" len="sm"/>
                      <a:tailEnd type="none" w="sm" len="sm"/>
                    </a:lnR>
                    <a:lnT w="12625" cap="flat" cmpd="sng">
                      <a:solidFill>
                        <a:srgbClr val="000000"/>
                      </a:solidFill>
                      <a:prstDash val="solid"/>
                      <a:round/>
                      <a:headEnd type="none" w="sm" len="sm"/>
                      <a:tailEnd type="none" w="sm" len="sm"/>
                    </a:lnT>
                    <a:lnB w="126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248125">
                <a:tc>
                  <a:txBody>
                    <a:bodyPr/>
                    <a:lstStyle/>
                    <a:p>
                      <a:pPr marL="0" lvl="0" indent="0" algn="l" rtl="0">
                        <a:lnSpc>
                          <a:spcPct val="115000"/>
                        </a:lnSpc>
                        <a:spcBef>
                          <a:spcPts val="1200"/>
                        </a:spcBef>
                        <a:spcAft>
                          <a:spcPts val="0"/>
                        </a:spcAft>
                        <a:buNone/>
                      </a:pPr>
                      <a:r>
                        <a:rPr lang="en-US" sz="1300">
                          <a:latin typeface="Times New Roman"/>
                          <a:ea typeface="Times New Roman"/>
                          <a:cs typeface="Times New Roman"/>
                          <a:sym typeface="Times New Roman"/>
                        </a:rPr>
                        <a:t>Study of Face Recognition Techniques</a:t>
                      </a:r>
                      <a:endParaRPr sz="1300">
                        <a:latin typeface="Times New Roman"/>
                        <a:ea typeface="Times New Roman"/>
                        <a:cs typeface="Times New Roman"/>
                        <a:sym typeface="Times New Roman"/>
                      </a:endParaRPr>
                    </a:p>
                  </a:txBody>
                  <a:tcPr marL="68575" marR="68575" marT="91425" marB="91425">
                    <a:lnL w="12625" cap="flat" cmpd="sng">
                      <a:solidFill>
                        <a:srgbClr val="000000"/>
                      </a:solidFill>
                      <a:prstDash val="solid"/>
                      <a:round/>
                      <a:headEnd type="none" w="sm" len="sm"/>
                      <a:tailEnd type="none" w="sm" len="sm"/>
                    </a:lnL>
                    <a:lnR w="12625" cap="flat" cmpd="sng">
                      <a:solidFill>
                        <a:srgbClr val="000000"/>
                      </a:solidFill>
                      <a:prstDash val="solid"/>
                      <a:round/>
                      <a:headEnd type="none" w="sm" len="sm"/>
                      <a:tailEnd type="none" w="sm" len="sm"/>
                    </a:lnR>
                    <a:lnT w="12625" cap="flat" cmpd="sng">
                      <a:solidFill>
                        <a:srgbClr val="000000"/>
                      </a:solidFill>
                      <a:prstDash val="solid"/>
                      <a:round/>
                      <a:headEnd type="none" w="sm" len="sm"/>
                      <a:tailEnd type="none" w="sm" len="sm"/>
                    </a:lnT>
                    <a:lnB w="126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1200">
                          <a:latin typeface="Times New Roman"/>
                          <a:ea typeface="Times New Roman"/>
                          <a:cs typeface="Times New Roman"/>
                          <a:sym typeface="Times New Roman"/>
                        </a:rPr>
                        <a:t>Madan Lal, Kamlesh Kumar,</a:t>
                      </a:r>
                      <a:endParaRPr sz="12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1200">
                          <a:latin typeface="Times New Roman"/>
                          <a:ea typeface="Times New Roman"/>
                          <a:cs typeface="Times New Roman"/>
                          <a:sym typeface="Times New Roman"/>
                        </a:rPr>
                        <a:t>Rafaqat Hussain Arain, Abdullah Maitlo</a:t>
                      </a:r>
                      <a:endParaRPr sz="1200">
                        <a:latin typeface="Times New Roman"/>
                        <a:ea typeface="Times New Roman"/>
                        <a:cs typeface="Times New Roman"/>
                        <a:sym typeface="Times New Roman"/>
                      </a:endParaRPr>
                    </a:p>
                  </a:txBody>
                  <a:tcPr marL="68575" marR="68575" marT="91425" marB="91425">
                    <a:lnL w="12625" cap="flat" cmpd="sng">
                      <a:solidFill>
                        <a:srgbClr val="000000"/>
                      </a:solidFill>
                      <a:prstDash val="solid"/>
                      <a:round/>
                      <a:headEnd type="none" w="sm" len="sm"/>
                      <a:tailEnd type="none" w="sm" len="sm"/>
                    </a:lnL>
                    <a:lnR w="12625" cap="flat" cmpd="sng">
                      <a:solidFill>
                        <a:srgbClr val="000000"/>
                      </a:solidFill>
                      <a:prstDash val="solid"/>
                      <a:round/>
                      <a:headEnd type="none" w="sm" len="sm"/>
                      <a:tailEnd type="none" w="sm" len="sm"/>
                    </a:lnR>
                    <a:lnT w="12625" cap="flat" cmpd="sng">
                      <a:solidFill>
                        <a:srgbClr val="000000"/>
                      </a:solidFill>
                      <a:prstDash val="solid"/>
                      <a:round/>
                      <a:headEnd type="none" w="sm" len="sm"/>
                      <a:tailEnd type="none" w="sm" len="sm"/>
                    </a:lnT>
                    <a:lnB w="126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1600">
                          <a:latin typeface="Times New Roman"/>
                          <a:ea typeface="Times New Roman"/>
                          <a:cs typeface="Times New Roman"/>
                          <a:sym typeface="Times New Roman"/>
                        </a:rPr>
                        <a:t>  </a:t>
                      </a:r>
                      <a:r>
                        <a:rPr lang="en-US" sz="1700">
                          <a:latin typeface="Times New Roman"/>
                          <a:ea typeface="Times New Roman"/>
                          <a:cs typeface="Times New Roman"/>
                          <a:sym typeface="Times New Roman"/>
                        </a:rPr>
                        <a:t> 2018</a:t>
                      </a:r>
                      <a:endParaRPr sz="1700">
                        <a:latin typeface="Times New Roman"/>
                        <a:ea typeface="Times New Roman"/>
                        <a:cs typeface="Times New Roman"/>
                        <a:sym typeface="Times New Roman"/>
                      </a:endParaRPr>
                    </a:p>
                  </a:txBody>
                  <a:tcPr marL="68575" marR="68575" marT="91425" marB="91425">
                    <a:lnL w="12625" cap="flat" cmpd="sng">
                      <a:solidFill>
                        <a:srgbClr val="000000"/>
                      </a:solidFill>
                      <a:prstDash val="solid"/>
                      <a:round/>
                      <a:headEnd type="none" w="sm" len="sm"/>
                      <a:tailEnd type="none" w="sm" len="sm"/>
                    </a:lnL>
                    <a:lnR w="12625" cap="flat" cmpd="sng">
                      <a:solidFill>
                        <a:srgbClr val="000000"/>
                      </a:solidFill>
                      <a:prstDash val="solid"/>
                      <a:round/>
                      <a:headEnd type="none" w="sm" len="sm"/>
                      <a:tailEnd type="none" w="sm" len="sm"/>
                    </a:lnR>
                    <a:lnT w="12625" cap="flat" cmpd="sng">
                      <a:solidFill>
                        <a:srgbClr val="000000"/>
                      </a:solidFill>
                      <a:prstDash val="solid"/>
                      <a:round/>
                      <a:headEnd type="none" w="sm" len="sm"/>
                      <a:tailEnd type="none" w="sm" len="sm"/>
                    </a:lnT>
                    <a:lnB w="126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1200">
                          <a:latin typeface="Times New Roman"/>
                          <a:ea typeface="Times New Roman"/>
                          <a:cs typeface="Times New Roman"/>
                          <a:sym typeface="Times New Roman"/>
                        </a:rPr>
                        <a:t>In this paper, a comprehensive study was performed over different face recognition methods</a:t>
                      </a:r>
                      <a:endParaRPr sz="1200">
                        <a:latin typeface="Times New Roman"/>
                        <a:ea typeface="Times New Roman"/>
                        <a:cs typeface="Times New Roman"/>
                        <a:sym typeface="Times New Roman"/>
                      </a:endParaRPr>
                    </a:p>
                  </a:txBody>
                  <a:tcPr marL="68575" marR="68575" marT="91425" marB="91425">
                    <a:lnL w="12625" cap="flat" cmpd="sng">
                      <a:solidFill>
                        <a:srgbClr val="000000"/>
                      </a:solidFill>
                      <a:prstDash val="solid"/>
                      <a:round/>
                      <a:headEnd type="none" w="sm" len="sm"/>
                      <a:tailEnd type="none" w="sm" len="sm"/>
                    </a:lnL>
                    <a:lnR w="12625" cap="flat" cmpd="sng">
                      <a:solidFill>
                        <a:srgbClr val="000000"/>
                      </a:solidFill>
                      <a:prstDash val="solid"/>
                      <a:round/>
                      <a:headEnd type="none" w="sm" len="sm"/>
                      <a:tailEnd type="none" w="sm" len="sm"/>
                    </a:lnR>
                    <a:lnT w="12625" cap="flat" cmpd="sng">
                      <a:solidFill>
                        <a:srgbClr val="000000"/>
                      </a:solidFill>
                      <a:prstDash val="solid"/>
                      <a:round/>
                      <a:headEnd type="none" w="sm" len="sm"/>
                      <a:tailEnd type="none" w="sm" len="sm"/>
                    </a:lnT>
                    <a:lnB w="126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1200">
                          <a:latin typeface="Times New Roman"/>
                          <a:ea typeface="Times New Roman"/>
                          <a:cs typeface="Times New Roman"/>
                          <a:sym typeface="Times New Roman"/>
                        </a:rPr>
                        <a:t>Developed face recognition techniques could be analyzed over varying facial expression</a:t>
                      </a:r>
                      <a:endParaRPr sz="1200">
                        <a:latin typeface="Times New Roman"/>
                        <a:ea typeface="Times New Roman"/>
                        <a:cs typeface="Times New Roman"/>
                        <a:sym typeface="Times New Roman"/>
                      </a:endParaRPr>
                    </a:p>
                  </a:txBody>
                  <a:tcPr marL="68575" marR="68575" marT="91425" marB="91425">
                    <a:lnL w="12625" cap="flat" cmpd="sng">
                      <a:solidFill>
                        <a:srgbClr val="000000"/>
                      </a:solidFill>
                      <a:prstDash val="solid"/>
                      <a:round/>
                      <a:headEnd type="none" w="sm" len="sm"/>
                      <a:tailEnd type="none" w="sm" len="sm"/>
                    </a:lnL>
                    <a:lnR w="12625" cap="flat" cmpd="sng">
                      <a:solidFill>
                        <a:srgbClr val="000000"/>
                      </a:solidFill>
                      <a:prstDash val="solid"/>
                      <a:round/>
                      <a:headEnd type="none" w="sm" len="sm"/>
                      <a:tailEnd type="none" w="sm" len="sm"/>
                    </a:lnR>
                    <a:lnT w="12625" cap="flat" cmpd="sng">
                      <a:solidFill>
                        <a:srgbClr val="000000"/>
                      </a:solidFill>
                      <a:prstDash val="solid"/>
                      <a:round/>
                      <a:headEnd type="none" w="sm" len="sm"/>
                      <a:tailEnd type="none" w="sm" len="sm"/>
                    </a:lnT>
                    <a:lnB w="126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37" name="Google Shape;137;p17"/>
          <p:cNvSpPr txBox="1"/>
          <p:nvPr/>
        </p:nvSpPr>
        <p:spPr>
          <a:xfrm>
            <a:off x="8413050" y="277800"/>
            <a:ext cx="1227900" cy="1110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1200"/>
              </a:spcAft>
              <a:buNone/>
            </a:pPr>
            <a:r>
              <a:rPr lang="en-US"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8"/>
          <p:cNvSpPr txBox="1">
            <a:spLocks noGrp="1"/>
          </p:cNvSpPr>
          <p:nvPr>
            <p:ph type="title"/>
          </p:nvPr>
        </p:nvSpPr>
        <p:spPr>
          <a:xfrm>
            <a:off x="457200" y="682902"/>
            <a:ext cx="8229600" cy="735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b="1"/>
              <a:t>Problem Statement</a:t>
            </a:r>
            <a:endParaRPr b="1"/>
          </a:p>
        </p:txBody>
      </p:sp>
      <p:sp>
        <p:nvSpPr>
          <p:cNvPr id="144" name="Google Shape;144;p18"/>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pic>
        <p:nvPicPr>
          <p:cNvPr id="145" name="Google Shape;145;p18" descr="A close up of a sign&#10;&#10;Description automatically generated"/>
          <p:cNvPicPr preferRelativeResize="0"/>
          <p:nvPr/>
        </p:nvPicPr>
        <p:blipFill rotWithShape="1">
          <a:blip r:embed="rId3">
            <a:alphaModFix/>
          </a:blip>
          <a:srcRect/>
          <a:stretch/>
        </p:blipFill>
        <p:spPr>
          <a:xfrm>
            <a:off x="0" y="0"/>
            <a:ext cx="3021519" cy="609600"/>
          </a:xfrm>
          <a:prstGeom prst="rect">
            <a:avLst/>
          </a:prstGeom>
          <a:noFill/>
          <a:ln>
            <a:noFill/>
          </a:ln>
        </p:spPr>
      </p:pic>
      <p:sp>
        <p:nvSpPr>
          <p:cNvPr id="146" name="Google Shape;146;p18"/>
          <p:cNvSpPr txBox="1"/>
          <p:nvPr/>
        </p:nvSpPr>
        <p:spPr>
          <a:xfrm>
            <a:off x="319650" y="1660100"/>
            <a:ext cx="8367300" cy="5747697"/>
          </a:xfrm>
          <a:prstGeom prst="rect">
            <a:avLst/>
          </a:prstGeom>
          <a:noFill/>
          <a:ln>
            <a:noFill/>
          </a:ln>
        </p:spPr>
        <p:txBody>
          <a:bodyPr spcFirstLastPara="1" wrap="square" lIns="91425" tIns="91425" rIns="91425" bIns="91425" anchor="t" anchorCtr="0">
            <a:spAutoFit/>
          </a:bodyPr>
          <a:lstStyle/>
          <a:p>
            <a:pPr marL="457200" lvl="0" indent="-355600" algn="l" rtl="0">
              <a:lnSpc>
                <a:spcPct val="150000"/>
              </a:lnSpc>
              <a:spcBef>
                <a:spcPts val="0"/>
              </a:spcBef>
              <a:spcAft>
                <a:spcPts val="0"/>
              </a:spcAft>
              <a:buClr>
                <a:schemeClr val="dk1"/>
              </a:buClr>
              <a:buSzPts val="2000"/>
              <a:buFont typeface="Calibri"/>
              <a:buChar char="●"/>
            </a:pPr>
            <a:r>
              <a:rPr lang="en-US" sz="3200" dirty="0">
                <a:solidFill>
                  <a:schemeClr val="dk1"/>
                </a:solidFill>
                <a:latin typeface="Calibri"/>
                <a:ea typeface="Calibri"/>
                <a:cs typeface="Calibri"/>
                <a:sym typeface="Calibri"/>
              </a:rPr>
              <a:t>The accuracy of the data collected is the biggest issue. </a:t>
            </a:r>
            <a:endParaRPr sz="3200" dirty="0">
              <a:solidFill>
                <a:schemeClr val="dk1"/>
              </a:solidFill>
              <a:latin typeface="Calibri"/>
              <a:ea typeface="Calibri"/>
              <a:cs typeface="Calibri"/>
              <a:sym typeface="Calibri"/>
            </a:endParaRPr>
          </a:p>
          <a:p>
            <a:pPr marL="457200" lvl="0" indent="-355600" algn="l" rtl="0">
              <a:lnSpc>
                <a:spcPct val="150000"/>
              </a:lnSpc>
              <a:spcBef>
                <a:spcPts val="0"/>
              </a:spcBef>
              <a:spcAft>
                <a:spcPts val="0"/>
              </a:spcAft>
              <a:buClr>
                <a:schemeClr val="dk1"/>
              </a:buClr>
              <a:buSzPts val="2000"/>
              <a:buFont typeface="Calibri"/>
              <a:buChar char="●"/>
            </a:pPr>
            <a:r>
              <a:rPr lang="en-US" sz="3200" dirty="0">
                <a:solidFill>
                  <a:schemeClr val="dk1"/>
                </a:solidFill>
                <a:latin typeface="Calibri"/>
                <a:ea typeface="Calibri"/>
                <a:cs typeface="Calibri"/>
                <a:sym typeface="Calibri"/>
              </a:rPr>
              <a:t>The instructor and training manager still have to do some work manually.</a:t>
            </a:r>
            <a:endParaRPr sz="3200" dirty="0">
              <a:solidFill>
                <a:schemeClr val="dk1"/>
              </a:solidFill>
              <a:latin typeface="Calibri"/>
              <a:ea typeface="Calibri"/>
              <a:cs typeface="Calibri"/>
              <a:sym typeface="Calibri"/>
            </a:endParaRPr>
          </a:p>
          <a:p>
            <a:pPr marL="457200" lvl="0" indent="-355600" algn="l" rtl="0">
              <a:lnSpc>
                <a:spcPct val="150000"/>
              </a:lnSpc>
              <a:spcBef>
                <a:spcPts val="0"/>
              </a:spcBef>
              <a:spcAft>
                <a:spcPts val="0"/>
              </a:spcAft>
              <a:buClr>
                <a:schemeClr val="dk1"/>
              </a:buClr>
              <a:buSzPts val="2000"/>
              <a:buFont typeface="Calibri"/>
              <a:buChar char="●"/>
            </a:pPr>
            <a:r>
              <a:rPr lang="en-US" sz="3200" dirty="0">
                <a:solidFill>
                  <a:schemeClr val="dk1"/>
                </a:solidFill>
                <a:latin typeface="Calibri"/>
                <a:ea typeface="Calibri"/>
                <a:cs typeface="Calibri"/>
                <a:sym typeface="Calibri"/>
              </a:rPr>
              <a:t>It cannot repeat live video to recognize missed faces. </a:t>
            </a:r>
            <a:endParaRPr sz="3200" dirty="0">
              <a:solidFill>
                <a:schemeClr val="dk1"/>
              </a:solidFill>
              <a:latin typeface="Calibri"/>
              <a:ea typeface="Calibri"/>
              <a:cs typeface="Calibri"/>
              <a:sym typeface="Calibri"/>
            </a:endParaRPr>
          </a:p>
          <a:p>
            <a:pPr marL="457200" lvl="0" indent="0" algn="l" rtl="0">
              <a:lnSpc>
                <a:spcPct val="150000"/>
              </a:lnSpc>
              <a:spcBef>
                <a:spcPts val="0"/>
              </a:spcBef>
              <a:spcAft>
                <a:spcPts val="0"/>
              </a:spcAft>
              <a:buNone/>
            </a:pPr>
            <a:endParaRPr sz="3200" dirty="0">
              <a:solidFill>
                <a:schemeClr val="dk1"/>
              </a:solidFill>
              <a:latin typeface="Calibri"/>
              <a:ea typeface="Calibri"/>
              <a:cs typeface="Calibri"/>
              <a:sym typeface="Calibri"/>
            </a:endParaRPr>
          </a:p>
          <a:p>
            <a:pPr marL="0" lvl="0" indent="0" algn="l" rtl="0">
              <a:lnSpc>
                <a:spcPct val="150000"/>
              </a:lnSpc>
              <a:spcBef>
                <a:spcPts val="0"/>
              </a:spcBef>
              <a:spcAft>
                <a:spcPts val="0"/>
              </a:spcAft>
              <a:buNone/>
            </a:pPr>
            <a:endParaRPr sz="1700" dirty="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9"/>
          <p:cNvSpPr txBox="1">
            <a:spLocks noGrp="1"/>
          </p:cNvSpPr>
          <p:nvPr>
            <p:ph type="title"/>
          </p:nvPr>
        </p:nvSpPr>
        <p:spPr>
          <a:xfrm>
            <a:off x="628650" y="784600"/>
            <a:ext cx="7886700" cy="906089"/>
          </a:xfrm>
        </p:spPr>
        <p:txBody>
          <a:bodyPr>
            <a:normAutofit/>
          </a:bodyPr>
          <a:lstStyle/>
          <a:p>
            <a:pPr lvl="0"/>
            <a:r>
              <a:rPr lang="en-US" dirty="0"/>
              <a:t>     Objectives</a:t>
            </a:r>
          </a:p>
        </p:txBody>
      </p:sp>
      <p:sp>
        <p:nvSpPr>
          <p:cNvPr id="153" name="Google Shape;153;p19"/>
          <p:cNvSpPr txBox="1">
            <a:spLocks noGrp="1"/>
          </p:cNvSpPr>
          <p:nvPr>
            <p:ph type="sldNum" sz="quarter" idx="12"/>
          </p:nvPr>
        </p:nvSpPr>
        <p:spPr/>
        <p:txBody>
          <a:bodyPr/>
          <a:lstStyle/>
          <a:p>
            <a:pPr lvl="0"/>
            <a:fld id="{00000000-1234-1234-1234-123412341234}" type="slidenum">
              <a:rPr lang="en-US"/>
              <a:pPr lvl="0"/>
              <a:t>7</a:t>
            </a:fld>
            <a:endParaRPr lang="en-US"/>
          </a:p>
        </p:txBody>
      </p:sp>
      <p:pic>
        <p:nvPicPr>
          <p:cNvPr id="154" name="Google Shape;154;p19" descr="A close up of a sign&#10;&#10;Description automatically generated"/>
          <p:cNvPicPr preferRelativeResize="0"/>
          <p:nvPr/>
        </p:nvPicPr>
        <p:blipFill rotWithShape="1">
          <a:blip r:embed="rId3">
            <a:alphaModFix/>
          </a:blip>
          <a:srcRect/>
          <a:stretch/>
        </p:blipFill>
        <p:spPr>
          <a:xfrm>
            <a:off x="0" y="0"/>
            <a:ext cx="3021525" cy="784600"/>
          </a:xfrm>
          <a:prstGeom prst="rect">
            <a:avLst/>
          </a:prstGeom>
          <a:noFill/>
          <a:ln>
            <a:noFill/>
          </a:ln>
        </p:spPr>
      </p:pic>
      <p:sp>
        <p:nvSpPr>
          <p:cNvPr id="155" name="Google Shape;155;p19"/>
          <p:cNvSpPr txBox="1"/>
          <p:nvPr/>
        </p:nvSpPr>
        <p:spPr>
          <a:xfrm>
            <a:off x="363250" y="1946975"/>
            <a:ext cx="8034900" cy="5104444"/>
          </a:xfrm>
          <a:prstGeom prst="rect">
            <a:avLst/>
          </a:prstGeom>
          <a:noFill/>
          <a:ln>
            <a:noFill/>
          </a:ln>
        </p:spPr>
        <p:txBody>
          <a:bodyPr spcFirstLastPara="1" wrap="square" lIns="91425" tIns="91425" rIns="91425" bIns="91425" anchor="t" anchorCtr="0">
            <a:spAutoFit/>
          </a:bodyPr>
          <a:lstStyle/>
          <a:p>
            <a:pPr marL="342900" lvl="0" indent="-342900" algn="just" rtl="0">
              <a:lnSpc>
                <a:spcPct val="115000"/>
              </a:lnSpc>
              <a:spcBef>
                <a:spcPts val="0"/>
              </a:spcBef>
              <a:spcAft>
                <a:spcPts val="0"/>
              </a:spcAft>
              <a:buFont typeface="Arial" panose="020B0604020202020204" pitchFamily="34" charset="0"/>
              <a:buChar char="•"/>
            </a:pPr>
            <a:r>
              <a:rPr lang="en-US" sz="2000" dirty="0">
                <a:solidFill>
                  <a:schemeClr val="dk1"/>
                </a:solidFill>
                <a:latin typeface="Calibri"/>
                <a:ea typeface="Calibri"/>
                <a:cs typeface="Calibri"/>
                <a:sym typeface="Calibri"/>
              </a:rPr>
              <a:t>To develop a portable Smart Attendance System which is handy and self-powered.</a:t>
            </a:r>
          </a:p>
          <a:p>
            <a:pPr marL="342900" lvl="0" indent="-342900" algn="just" rtl="0">
              <a:lnSpc>
                <a:spcPct val="115000"/>
              </a:lnSpc>
              <a:spcBef>
                <a:spcPts val="0"/>
              </a:spcBef>
              <a:spcAft>
                <a:spcPts val="0"/>
              </a:spcAft>
              <a:buFont typeface="Arial" panose="020B0604020202020204" pitchFamily="34" charset="0"/>
              <a:buChar char="•"/>
            </a:pPr>
            <a:r>
              <a:rPr lang="en-US" sz="2000" dirty="0">
                <a:solidFill>
                  <a:schemeClr val="dk1"/>
                </a:solidFill>
                <a:latin typeface="Calibri"/>
                <a:ea typeface="Calibri"/>
                <a:cs typeface="Calibri"/>
                <a:sym typeface="Calibri"/>
              </a:rPr>
              <a:t>Have enough memory space to store the database.</a:t>
            </a:r>
          </a:p>
          <a:p>
            <a:pPr marL="342900" lvl="0" indent="-342900" algn="just" rtl="0">
              <a:lnSpc>
                <a:spcPct val="115000"/>
              </a:lnSpc>
              <a:spcBef>
                <a:spcPts val="0"/>
              </a:spcBef>
              <a:spcAft>
                <a:spcPts val="0"/>
              </a:spcAft>
              <a:buFont typeface="Arial" panose="020B0604020202020204" pitchFamily="34" charset="0"/>
              <a:buChar char="•"/>
            </a:pPr>
            <a:r>
              <a:rPr lang="en-US" sz="2000" dirty="0">
                <a:solidFill>
                  <a:schemeClr val="dk1"/>
                </a:solidFill>
                <a:latin typeface="Calibri"/>
                <a:ea typeface="Calibri"/>
                <a:cs typeface="Calibri"/>
                <a:sym typeface="Calibri"/>
              </a:rPr>
              <a:t> Able to recognize the face of an individual accurately based on the face            database.</a:t>
            </a:r>
          </a:p>
          <a:p>
            <a:pPr marL="342900" lvl="0" indent="-342900" algn="just" rtl="0">
              <a:lnSpc>
                <a:spcPct val="115000"/>
              </a:lnSpc>
              <a:spcBef>
                <a:spcPts val="0"/>
              </a:spcBef>
              <a:spcAft>
                <a:spcPts val="0"/>
              </a:spcAft>
              <a:buFont typeface="Arial" panose="020B0604020202020204" pitchFamily="34" charset="0"/>
              <a:buChar char="•"/>
            </a:pPr>
            <a:r>
              <a:rPr lang="en-US" sz="2000" dirty="0">
                <a:solidFill>
                  <a:schemeClr val="dk1"/>
                </a:solidFill>
                <a:latin typeface="Calibri"/>
                <a:ea typeface="Calibri"/>
                <a:cs typeface="Calibri"/>
                <a:sym typeface="Calibri"/>
              </a:rPr>
              <a:t>Allow new students or staff to store their faces in the database.</a:t>
            </a:r>
          </a:p>
          <a:p>
            <a:pPr marL="342900" lvl="0" indent="-342900" algn="just" rtl="0">
              <a:lnSpc>
                <a:spcPct val="115000"/>
              </a:lnSpc>
              <a:spcBef>
                <a:spcPts val="0"/>
              </a:spcBef>
              <a:spcAft>
                <a:spcPts val="0"/>
              </a:spcAft>
              <a:buFont typeface="Arial" panose="020B0604020202020204" pitchFamily="34" charset="0"/>
              <a:buChar char="•"/>
            </a:pPr>
            <a:r>
              <a:rPr lang="en-US" sz="2000" dirty="0">
                <a:solidFill>
                  <a:schemeClr val="dk1"/>
                </a:solidFill>
                <a:latin typeface="Calibri"/>
                <a:ea typeface="Calibri"/>
                <a:cs typeface="Calibri"/>
                <a:sym typeface="Calibri"/>
              </a:rPr>
              <a:t>Able to show an indication to the user whether the face- recognition       process is successful or not.</a:t>
            </a:r>
          </a:p>
          <a:p>
            <a:pPr marL="342900" lvl="0" indent="-342900" algn="just" rtl="0">
              <a:lnSpc>
                <a:spcPct val="115000"/>
              </a:lnSpc>
              <a:spcBef>
                <a:spcPts val="0"/>
              </a:spcBef>
              <a:spcAft>
                <a:spcPts val="0"/>
              </a:spcAft>
              <a:buFont typeface="Arial" panose="020B0604020202020204" pitchFamily="34" charset="0"/>
              <a:buChar char="•"/>
            </a:pPr>
            <a:r>
              <a:rPr lang="en-US" sz="2000" i="0" dirty="0">
                <a:solidFill>
                  <a:srgbClr val="202124"/>
                </a:solidFill>
                <a:effectLst/>
                <a:latin typeface="Calibri" panose="020F0502020204030204" pitchFamily="34" charset="0"/>
                <a:cs typeface="Calibri" panose="020F0502020204030204" pitchFamily="34" charset="0"/>
              </a:rPr>
              <a:t>The objective of face recognition is, from the incoming image, to find a series of data of the same face in a set of training images in a database. The great difficulty is ensuring that this process is carried out in real-time, something that is not available to all biometric facial recognition software providers</a:t>
            </a:r>
            <a:r>
              <a:rPr lang="en-US" sz="1800" i="0" dirty="0">
                <a:solidFill>
                  <a:srgbClr val="202124"/>
                </a:solidFill>
                <a:effectLst/>
                <a:latin typeface="Calibri" panose="020F0502020204030204" pitchFamily="34" charset="0"/>
                <a:cs typeface="Calibri" panose="020F0502020204030204" pitchFamily="34" charset="0"/>
              </a:rPr>
              <a:t>.</a:t>
            </a:r>
          </a:p>
          <a:p>
            <a:pPr lvl="0" algn="just" rtl="0">
              <a:lnSpc>
                <a:spcPct val="115000"/>
              </a:lnSpc>
              <a:spcBef>
                <a:spcPts val="0"/>
              </a:spcBef>
              <a:spcAft>
                <a:spcPts val="0"/>
              </a:spcAft>
            </a:pPr>
            <a:endParaRPr sz="1800" dirty="0">
              <a:solidFill>
                <a:schemeClr val="dk1"/>
              </a:solidFill>
              <a:latin typeface="Calibri" panose="020F0502020204030204" pitchFamily="34" charset="0"/>
              <a:ea typeface="Calibri"/>
              <a:cs typeface="Calibri" panose="020F0502020204030204" pitchFamily="34" charset="0"/>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428226-A775-589C-4AD8-2F0465C10F24}"/>
              </a:ext>
            </a:extLst>
          </p:cNvPr>
          <p:cNvSpPr>
            <a:spLocks noGrp="1"/>
          </p:cNvSpPr>
          <p:nvPr>
            <p:ph type="title"/>
          </p:nvPr>
        </p:nvSpPr>
        <p:spPr>
          <a:xfrm>
            <a:off x="800098" y="633036"/>
            <a:ext cx="7886701" cy="1013201"/>
          </a:xfrm>
        </p:spPr>
        <p:txBody>
          <a:bodyPr/>
          <a:lstStyle/>
          <a:p>
            <a:r>
              <a:rPr lang="en-IN" dirty="0"/>
              <a:t>Objectives</a:t>
            </a:r>
          </a:p>
        </p:txBody>
      </p:sp>
      <p:sp>
        <p:nvSpPr>
          <p:cNvPr id="6" name="Text Placeholder 5">
            <a:extLst>
              <a:ext uri="{FF2B5EF4-FFF2-40B4-BE49-F238E27FC236}">
                <a16:creationId xmlns:a16="http://schemas.microsoft.com/office/drawing/2014/main" id="{8AF8468E-4BB8-CFA8-1EBF-D0E88C5D0769}"/>
              </a:ext>
            </a:extLst>
          </p:cNvPr>
          <p:cNvSpPr>
            <a:spLocks noGrp="1"/>
          </p:cNvSpPr>
          <p:nvPr>
            <p:ph idx="1"/>
          </p:nvPr>
        </p:nvSpPr>
        <p:spPr/>
        <p:txBody>
          <a:bodyPr>
            <a:normAutofit fontScale="92500" lnSpcReduction="10000"/>
          </a:bodyPr>
          <a:lstStyle/>
          <a:p>
            <a:pPr algn="l">
              <a:buFont typeface="Arial" panose="020B0604020202020204" pitchFamily="34" charset="0"/>
              <a:buChar char="•"/>
            </a:pPr>
            <a:r>
              <a:rPr lang="en-US" sz="2000" b="0" i="0" dirty="0">
                <a:solidFill>
                  <a:srgbClr val="212529"/>
                </a:solidFill>
                <a:effectLst/>
                <a:latin typeface="Calibri" panose="020F0502020204030204" pitchFamily="34" charset="0"/>
                <a:cs typeface="Calibri" panose="020F0502020204030204" pitchFamily="34" charset="0"/>
              </a:rPr>
              <a:t>Provides a valuable attendance service for both teachers and students.</a:t>
            </a:r>
          </a:p>
          <a:p>
            <a:pPr algn="l">
              <a:buFont typeface="Arial" panose="020B0604020202020204" pitchFamily="34" charset="0"/>
              <a:buChar char="•"/>
            </a:pPr>
            <a:r>
              <a:rPr lang="en-US" sz="2000" b="0" i="0" dirty="0">
                <a:solidFill>
                  <a:srgbClr val="212529"/>
                </a:solidFill>
                <a:effectLst/>
                <a:latin typeface="Calibri" panose="020F0502020204030204" pitchFamily="34" charset="0"/>
                <a:cs typeface="Calibri" panose="020F0502020204030204" pitchFamily="34" charset="0"/>
              </a:rPr>
              <a:t>Reduce manual process errors by provide automated and a reliable attendance system uses face recognition technology.</a:t>
            </a:r>
          </a:p>
          <a:p>
            <a:pPr algn="l">
              <a:buFont typeface="Arial" panose="020B0604020202020204" pitchFamily="34" charset="0"/>
              <a:buChar char="•"/>
            </a:pPr>
            <a:r>
              <a:rPr lang="en-US" sz="2000" b="0" i="0" dirty="0">
                <a:solidFill>
                  <a:srgbClr val="212529"/>
                </a:solidFill>
                <a:effectLst/>
                <a:latin typeface="Calibri" panose="020F0502020204030204" pitchFamily="34" charset="0"/>
                <a:cs typeface="Calibri" panose="020F0502020204030204" pitchFamily="34" charset="0"/>
              </a:rPr>
              <a:t>Increase privacy and security which student cannot presenting himself or his friend while they are not.</a:t>
            </a:r>
          </a:p>
          <a:p>
            <a:pPr algn="l">
              <a:buFont typeface="Arial" panose="020B0604020202020204" pitchFamily="34" charset="0"/>
              <a:buChar char="•"/>
            </a:pPr>
            <a:r>
              <a:rPr lang="en-US" sz="2000" dirty="0">
                <a:latin typeface="Calibri" panose="020F0502020204030204" pitchFamily="34" charset="0"/>
                <a:cs typeface="Calibri" panose="020F0502020204030204" pitchFamily="34" charset="0"/>
              </a:rPr>
              <a:t>Detection of unique face image amidst the other natural components such as walls, backgrounds </a:t>
            </a:r>
            <a:r>
              <a:rPr lang="en-US" sz="2000" dirty="0" err="1">
                <a:latin typeface="Calibri" panose="020F0502020204030204" pitchFamily="34" charset="0"/>
                <a:cs typeface="Calibri" panose="020F0502020204030204" pitchFamily="34" charset="0"/>
              </a:rPr>
              <a:t>etc</a:t>
            </a:r>
            <a:endParaRPr lang="en-US" sz="2000" dirty="0">
              <a:latin typeface="Calibri" panose="020F0502020204030204" pitchFamily="34" charset="0"/>
              <a:cs typeface="Calibri" panose="020F0502020204030204" pitchFamily="34" charset="0"/>
            </a:endParaRPr>
          </a:p>
          <a:p>
            <a:pPr algn="l">
              <a:buFont typeface="Arial" panose="020B0604020202020204" pitchFamily="34" charset="0"/>
              <a:buChar char="•"/>
            </a:pPr>
            <a:r>
              <a:rPr lang="en-US" sz="2000" dirty="0">
                <a:latin typeface="Calibri" panose="020F0502020204030204" pitchFamily="34" charset="0"/>
                <a:cs typeface="Calibri" panose="020F0502020204030204" pitchFamily="34" charset="0"/>
              </a:rPr>
              <a:t>Extraction of unique characteristic features of a face useful for face recognition. </a:t>
            </a:r>
          </a:p>
          <a:p>
            <a:pPr algn="l">
              <a:buFont typeface="Arial" panose="020B0604020202020204" pitchFamily="34" charset="0"/>
              <a:buChar char="•"/>
            </a:pPr>
            <a:r>
              <a:rPr lang="en-US" sz="2000" dirty="0">
                <a:latin typeface="Calibri" panose="020F0502020204030204" pitchFamily="34" charset="0"/>
                <a:cs typeface="Calibri" panose="020F0502020204030204" pitchFamily="34" charset="0"/>
              </a:rPr>
              <a:t> Detection of faces amongst other face characters such as beard, spectacles etc. </a:t>
            </a:r>
          </a:p>
          <a:p>
            <a:pPr algn="l">
              <a:buFont typeface="Arial" panose="020B0604020202020204" pitchFamily="34" charset="0"/>
              <a:buChar char="•"/>
            </a:pPr>
            <a:r>
              <a:rPr lang="en-US" sz="2000" dirty="0">
                <a:latin typeface="Calibri" panose="020F0502020204030204" pitchFamily="34" charset="0"/>
                <a:cs typeface="Calibri" panose="020F0502020204030204" pitchFamily="34" charset="0"/>
              </a:rPr>
              <a:t> Effective recognition of unique faces in a crowd(individual recognition in crowd).</a:t>
            </a:r>
          </a:p>
          <a:p>
            <a:pPr algn="l">
              <a:buFont typeface="Arial" panose="020B0604020202020204" pitchFamily="34" charset="0"/>
              <a:buChar char="•"/>
            </a:pPr>
            <a:r>
              <a:rPr lang="en-US" sz="2000" dirty="0">
                <a:latin typeface="Calibri" panose="020F0502020204030204" pitchFamily="34" charset="0"/>
                <a:cs typeface="Calibri" panose="020F0502020204030204" pitchFamily="34" charset="0"/>
              </a:rPr>
              <a:t> Automated update in the database without human intervention</a:t>
            </a:r>
            <a:endParaRPr lang="en-US" sz="2000" b="0" i="0" dirty="0">
              <a:solidFill>
                <a:srgbClr val="212529"/>
              </a:solidFill>
              <a:effectLst/>
              <a:latin typeface="Calibri" panose="020F0502020204030204" pitchFamily="34" charset="0"/>
              <a:cs typeface="Calibri" panose="020F0502020204030204" pitchFamily="34" charset="0"/>
            </a:endParaRPr>
          </a:p>
          <a:p>
            <a:pPr marL="114300" indent="0" algn="l">
              <a:buNone/>
            </a:pPr>
            <a:endParaRPr lang="en-US" sz="2000" b="0" i="0" dirty="0">
              <a:solidFill>
                <a:srgbClr val="212529"/>
              </a:solidFill>
              <a:effectLst/>
              <a:latin typeface="-apple-system"/>
            </a:endParaRPr>
          </a:p>
          <a:p>
            <a:endParaRPr lang="en-IN" dirty="0"/>
          </a:p>
        </p:txBody>
      </p:sp>
      <p:sp>
        <p:nvSpPr>
          <p:cNvPr id="3" name="Slide Number Placeholder 2">
            <a:extLst>
              <a:ext uri="{FF2B5EF4-FFF2-40B4-BE49-F238E27FC236}">
                <a16:creationId xmlns:a16="http://schemas.microsoft.com/office/drawing/2014/main" id="{4E1BA42C-FED0-CB13-E3F7-133030377BE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pic>
        <p:nvPicPr>
          <p:cNvPr id="4" name="Google Shape;154;p19" descr="A close up of a sign&#10;&#10;Description automatically generated">
            <a:extLst>
              <a:ext uri="{FF2B5EF4-FFF2-40B4-BE49-F238E27FC236}">
                <a16:creationId xmlns:a16="http://schemas.microsoft.com/office/drawing/2014/main" id="{1E7E9D79-6655-8FEF-371C-1F9FCE7E5C6C}"/>
              </a:ext>
            </a:extLst>
          </p:cNvPr>
          <p:cNvPicPr preferRelativeResize="0"/>
          <p:nvPr/>
        </p:nvPicPr>
        <p:blipFill rotWithShape="1">
          <a:blip r:embed="rId2">
            <a:alphaModFix/>
          </a:blip>
          <a:srcRect/>
          <a:stretch/>
        </p:blipFill>
        <p:spPr>
          <a:xfrm>
            <a:off x="0" y="0"/>
            <a:ext cx="3021525" cy="784600"/>
          </a:xfrm>
          <a:prstGeom prst="rect">
            <a:avLst/>
          </a:prstGeom>
          <a:noFill/>
          <a:ln>
            <a:noFill/>
          </a:ln>
        </p:spPr>
      </p:pic>
    </p:spTree>
    <p:extLst>
      <p:ext uri="{BB962C8B-B14F-4D97-AF65-F5344CB8AC3E}">
        <p14:creationId xmlns:p14="http://schemas.microsoft.com/office/powerpoint/2010/main" val="3871258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0"/>
          <p:cNvSpPr txBox="1">
            <a:spLocks noGrp="1"/>
          </p:cNvSpPr>
          <p:nvPr>
            <p:ph type="title"/>
          </p:nvPr>
        </p:nvSpPr>
        <p:spPr>
          <a:prstGeom prst="rect">
            <a:avLst/>
          </a:prstGeom>
        </p:spPr>
        <p:txBody>
          <a:bodyPr spcFirstLastPara="1" wrap="square" lIns="91425" tIns="45700" rIns="91425" bIns="45700" anchor="ctr" anchorCtr="0">
            <a:normAutofit fontScale="90000"/>
          </a:bodyPr>
          <a:lstStyle/>
          <a:p>
            <a:pPr marL="0" lvl="0" indent="0" algn="l" rtl="0">
              <a:lnSpc>
                <a:spcPct val="150000"/>
              </a:lnSpc>
              <a:spcBef>
                <a:spcPts val="0"/>
              </a:spcBef>
              <a:spcAft>
                <a:spcPts val="0"/>
              </a:spcAft>
              <a:buNone/>
            </a:pPr>
            <a:r>
              <a:rPr lang="en-US" sz="2000"/>
              <a:t>         </a:t>
            </a:r>
            <a:endParaRPr sz="1400">
              <a:latin typeface="Arial"/>
              <a:ea typeface="Arial"/>
              <a:cs typeface="Arial"/>
              <a:sym typeface="Arial"/>
            </a:endParaRPr>
          </a:p>
          <a:p>
            <a:pPr marL="0" lvl="0" indent="0" algn="ctr" rtl="0">
              <a:spcBef>
                <a:spcPts val="0"/>
              </a:spcBef>
              <a:spcAft>
                <a:spcPts val="0"/>
              </a:spcAft>
              <a:buNone/>
            </a:pPr>
            <a:r>
              <a:rPr lang="en-US" sz="3622" b="1"/>
              <a:t>Design and development-Software/Hardware</a:t>
            </a:r>
            <a:endParaRPr sz="3622" b="1"/>
          </a:p>
        </p:txBody>
      </p:sp>
      <p:sp>
        <p:nvSpPr>
          <p:cNvPr id="162" name="Google Shape;162;p20"/>
          <p:cNvSpPr txBox="1">
            <a:spLocks noGrp="1"/>
          </p:cNvSpPr>
          <p:nvPr>
            <p:ph idx="1"/>
          </p:nvPr>
        </p:nvSpPr>
        <p:spPr>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r>
              <a:rPr lang="en-US" dirty="0"/>
              <a:t>Software:</a:t>
            </a:r>
            <a:endParaRPr dirty="0"/>
          </a:p>
          <a:p>
            <a:pPr marL="0" lvl="0" indent="0" algn="l" rtl="0">
              <a:spcBef>
                <a:spcPts val="360"/>
              </a:spcBef>
              <a:spcAft>
                <a:spcPts val="0"/>
              </a:spcAft>
              <a:buNone/>
            </a:pPr>
            <a:r>
              <a:rPr lang="en-US" dirty="0"/>
              <a:t>1.Matlab(R2022a version)</a:t>
            </a:r>
            <a:endParaRPr dirty="0"/>
          </a:p>
          <a:p>
            <a:pPr marL="0" lvl="0" indent="0" algn="l" rtl="0">
              <a:spcBef>
                <a:spcPts val="360"/>
              </a:spcBef>
              <a:spcAft>
                <a:spcPts val="0"/>
              </a:spcAft>
              <a:buNone/>
            </a:pPr>
            <a:endParaRPr dirty="0"/>
          </a:p>
          <a:p>
            <a:pPr marL="0" lvl="0" indent="0" algn="l" rtl="0">
              <a:spcBef>
                <a:spcPts val="360"/>
              </a:spcBef>
              <a:spcAft>
                <a:spcPts val="0"/>
              </a:spcAft>
              <a:buNone/>
            </a:pPr>
            <a:r>
              <a:rPr lang="en-US" dirty="0"/>
              <a:t>Hardware:</a:t>
            </a:r>
            <a:endParaRPr dirty="0"/>
          </a:p>
          <a:p>
            <a:pPr marL="0" lvl="0" indent="0" algn="l" rtl="0">
              <a:spcBef>
                <a:spcPts val="360"/>
              </a:spcBef>
              <a:spcAft>
                <a:spcPts val="0"/>
              </a:spcAft>
              <a:buNone/>
            </a:pPr>
            <a:r>
              <a:rPr lang="en-US" dirty="0"/>
              <a:t>1.Camera.</a:t>
            </a:r>
            <a:endParaRPr dirty="0"/>
          </a:p>
          <a:p>
            <a:pPr marL="0" lvl="0" indent="0" algn="l" rtl="0">
              <a:spcBef>
                <a:spcPts val="360"/>
              </a:spcBef>
              <a:spcAft>
                <a:spcPts val="0"/>
              </a:spcAft>
              <a:buNone/>
            </a:pPr>
            <a:r>
              <a:rPr lang="en-US" dirty="0"/>
              <a:t>2.Laptop.</a:t>
            </a:r>
            <a:endParaRPr dirty="0"/>
          </a:p>
          <a:p>
            <a:pPr marL="0" lvl="0" indent="0" algn="l" rtl="0">
              <a:spcBef>
                <a:spcPts val="360"/>
              </a:spcBef>
              <a:spcAft>
                <a:spcPts val="0"/>
              </a:spcAft>
              <a:buNone/>
            </a:pPr>
            <a:r>
              <a:rPr lang="en-US" dirty="0"/>
              <a:t>3.Storage.</a:t>
            </a:r>
            <a:endParaRPr dirty="0"/>
          </a:p>
          <a:p>
            <a:pPr marL="0" lvl="0" indent="0" algn="l" rtl="0">
              <a:spcBef>
                <a:spcPts val="360"/>
              </a:spcBef>
              <a:spcAft>
                <a:spcPts val="0"/>
              </a:spcAft>
              <a:buNone/>
            </a:pPr>
            <a:endParaRPr dirty="0"/>
          </a:p>
        </p:txBody>
      </p:sp>
      <p:sp>
        <p:nvSpPr>
          <p:cNvPr id="163" name="Google Shape;163;p20"/>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pic>
        <p:nvPicPr>
          <p:cNvPr id="164" name="Google Shape;164;p20" descr="A close up of a sign&#10;&#10;Description automatically generated"/>
          <p:cNvPicPr preferRelativeResize="0"/>
          <p:nvPr/>
        </p:nvPicPr>
        <p:blipFill rotWithShape="1">
          <a:blip r:embed="rId3">
            <a:alphaModFix/>
          </a:blip>
          <a:srcRect/>
          <a:stretch/>
        </p:blipFill>
        <p:spPr>
          <a:xfrm>
            <a:off x="0" y="0"/>
            <a:ext cx="3021525" cy="784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A146A-0FD8-F708-8D64-98E7C05C4DB0}"/>
              </a:ext>
            </a:extLst>
          </p:cNvPr>
          <p:cNvSpPr>
            <a:spLocks noGrp="1"/>
          </p:cNvSpPr>
          <p:nvPr>
            <p:ph type="title"/>
          </p:nvPr>
        </p:nvSpPr>
        <p:spPr>
          <a:xfrm>
            <a:off x="628650" y="345249"/>
            <a:ext cx="7886700" cy="1480376"/>
          </a:xfrm>
        </p:spPr>
        <p:txBody>
          <a:bodyPr>
            <a:normAutofit/>
          </a:bodyPr>
          <a:lstStyle/>
          <a:p>
            <a:r>
              <a:rPr lang="en-IN" dirty="0"/>
              <a:t>           </a:t>
            </a:r>
          </a:p>
        </p:txBody>
      </p:sp>
      <p:sp>
        <p:nvSpPr>
          <p:cNvPr id="3" name="Content Placeholder 2">
            <a:extLst>
              <a:ext uri="{FF2B5EF4-FFF2-40B4-BE49-F238E27FC236}">
                <a16:creationId xmlns:a16="http://schemas.microsoft.com/office/drawing/2014/main" id="{029D9711-8308-4519-243A-788CBC80A06A}"/>
              </a:ext>
            </a:extLst>
          </p:cNvPr>
          <p:cNvSpPr>
            <a:spLocks noGrp="1"/>
          </p:cNvSpPr>
          <p:nvPr>
            <p:ph idx="1"/>
          </p:nvPr>
        </p:nvSpPr>
        <p:spPr/>
        <p:txBody>
          <a:bodyPr/>
          <a:lstStyle/>
          <a:p>
            <a:pPr marL="0" marR="0" lvl="0" indent="0" algn="l" rtl="0">
              <a:spcBef>
                <a:spcPts val="0"/>
              </a:spcBef>
              <a:spcAft>
                <a:spcPts val="0"/>
              </a:spcAft>
              <a:buNone/>
            </a:pPr>
            <a:endParaRPr lang="en-US" dirty="0">
              <a:latin typeface="Calibri"/>
              <a:ea typeface="Calibri"/>
              <a:cs typeface="Calibri"/>
              <a:sym typeface="Calibri"/>
            </a:endParaRPr>
          </a:p>
          <a:p>
            <a:pPr marL="0" marR="0" lvl="0" indent="0" algn="l" rtl="0">
              <a:spcBef>
                <a:spcPts val="0"/>
              </a:spcBef>
              <a:spcAft>
                <a:spcPts val="0"/>
              </a:spcAft>
              <a:buNone/>
            </a:pPr>
            <a:endParaRPr lang="en-US" sz="2000" b="1" dirty="0">
              <a:latin typeface="Calibri"/>
              <a:ea typeface="Calibri"/>
              <a:cs typeface="Calibri"/>
              <a:sym typeface="Calibri"/>
            </a:endParaRPr>
          </a:p>
          <a:p>
            <a:pPr marL="0" marR="0" lvl="0" indent="0" algn="l" rtl="0">
              <a:spcBef>
                <a:spcPts val="0"/>
              </a:spcBef>
              <a:spcAft>
                <a:spcPts val="0"/>
              </a:spcAft>
              <a:buNone/>
            </a:pPr>
            <a:r>
              <a:rPr lang="en-US" sz="2000" b="1" dirty="0">
                <a:latin typeface="Calibri"/>
                <a:ea typeface="Calibri"/>
                <a:cs typeface="Calibri"/>
                <a:sym typeface="Calibri"/>
              </a:rPr>
              <a:t>The proposed plan for An Automatic Attendance System using image processing includes: </a:t>
            </a:r>
          </a:p>
          <a:p>
            <a:pPr marL="0" marR="0" lvl="0" indent="0" algn="l" rtl="0">
              <a:spcBef>
                <a:spcPts val="0"/>
              </a:spcBef>
              <a:spcAft>
                <a:spcPts val="0"/>
              </a:spcAft>
              <a:buNone/>
            </a:pPr>
            <a:endParaRPr lang="en-US" sz="2400" dirty="0">
              <a:latin typeface="Calibri"/>
              <a:ea typeface="Calibri"/>
              <a:cs typeface="Calibri"/>
              <a:sym typeface="Calibri"/>
            </a:endParaRPr>
          </a:p>
          <a:p>
            <a:pPr marL="0" marR="0" lvl="0" indent="0" algn="l" rtl="0">
              <a:spcBef>
                <a:spcPts val="0"/>
              </a:spcBef>
              <a:spcAft>
                <a:spcPts val="0"/>
              </a:spcAft>
              <a:buNone/>
            </a:pPr>
            <a:r>
              <a:rPr lang="en-US" sz="2400" dirty="0">
                <a:latin typeface="Calibri"/>
                <a:ea typeface="Calibri"/>
                <a:cs typeface="Calibri"/>
                <a:sym typeface="Calibri"/>
              </a:rPr>
              <a:t>1.Enrolment of faces .</a:t>
            </a:r>
          </a:p>
          <a:p>
            <a:pPr marL="0" marR="0" lvl="0" indent="0" algn="l" rtl="0">
              <a:spcBef>
                <a:spcPts val="0"/>
              </a:spcBef>
              <a:spcAft>
                <a:spcPts val="0"/>
              </a:spcAft>
              <a:buNone/>
            </a:pPr>
            <a:r>
              <a:rPr lang="en-US" sz="2400" dirty="0">
                <a:latin typeface="Calibri"/>
                <a:ea typeface="Calibri"/>
                <a:cs typeface="Calibri"/>
                <a:sym typeface="Calibri"/>
              </a:rPr>
              <a:t>2.Capturing the video of students. </a:t>
            </a:r>
          </a:p>
          <a:p>
            <a:pPr marL="0" marR="0" lvl="0" indent="0" algn="l" rtl="0">
              <a:spcBef>
                <a:spcPts val="0"/>
              </a:spcBef>
              <a:spcAft>
                <a:spcPts val="0"/>
              </a:spcAft>
              <a:buNone/>
            </a:pPr>
            <a:r>
              <a:rPr lang="en-US" sz="2400" dirty="0">
                <a:latin typeface="Calibri"/>
                <a:ea typeface="Calibri"/>
                <a:cs typeface="Calibri"/>
                <a:sym typeface="Calibri"/>
              </a:rPr>
              <a:t>3.Face detection and feature extraction. </a:t>
            </a:r>
          </a:p>
          <a:p>
            <a:pPr marL="0" marR="0" lvl="0" indent="0" algn="l" rtl="0">
              <a:spcBef>
                <a:spcPts val="0"/>
              </a:spcBef>
              <a:spcAft>
                <a:spcPts val="0"/>
              </a:spcAft>
              <a:buNone/>
            </a:pPr>
            <a:r>
              <a:rPr lang="en-US" sz="2400" dirty="0">
                <a:latin typeface="Calibri"/>
                <a:ea typeface="Calibri"/>
                <a:cs typeface="Calibri"/>
                <a:sym typeface="Calibri"/>
              </a:rPr>
              <a:t>4.Face recognition and marking attendance</a:t>
            </a:r>
            <a:endParaRPr lang="en-IN" dirty="0"/>
          </a:p>
        </p:txBody>
      </p:sp>
      <p:sp>
        <p:nvSpPr>
          <p:cNvPr id="4" name="Slide Number Placeholder 3">
            <a:extLst>
              <a:ext uri="{FF2B5EF4-FFF2-40B4-BE49-F238E27FC236}">
                <a16:creationId xmlns:a16="http://schemas.microsoft.com/office/drawing/2014/main" id="{C0CA3AF0-6952-046F-1E25-3E4EC2CDB64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pic>
        <p:nvPicPr>
          <p:cNvPr id="5" name="Google Shape;164;p20" descr="A close up of a sign&#10;&#10;Description automatically generated">
            <a:extLst>
              <a:ext uri="{FF2B5EF4-FFF2-40B4-BE49-F238E27FC236}">
                <a16:creationId xmlns:a16="http://schemas.microsoft.com/office/drawing/2014/main" id="{0FE24BEC-5DB4-32FA-B722-213D0CA0B69F}"/>
              </a:ext>
            </a:extLst>
          </p:cNvPr>
          <p:cNvPicPr preferRelativeResize="0"/>
          <p:nvPr/>
        </p:nvPicPr>
        <p:blipFill rotWithShape="1">
          <a:blip r:embed="rId2">
            <a:alphaModFix/>
          </a:blip>
          <a:srcRect/>
          <a:stretch/>
        </p:blipFill>
        <p:spPr>
          <a:xfrm>
            <a:off x="0" y="0"/>
            <a:ext cx="3021525" cy="784600"/>
          </a:xfrm>
          <a:prstGeom prst="rect">
            <a:avLst/>
          </a:prstGeom>
          <a:noFill/>
          <a:ln>
            <a:noFill/>
          </a:ln>
        </p:spPr>
      </p:pic>
      <p:sp>
        <p:nvSpPr>
          <p:cNvPr id="7" name="TextBox 6">
            <a:extLst>
              <a:ext uri="{FF2B5EF4-FFF2-40B4-BE49-F238E27FC236}">
                <a16:creationId xmlns:a16="http://schemas.microsoft.com/office/drawing/2014/main" id="{AD96B240-8D07-1068-6282-3FC6AABAFFFA}"/>
              </a:ext>
            </a:extLst>
          </p:cNvPr>
          <p:cNvSpPr txBox="1"/>
          <p:nvPr/>
        </p:nvSpPr>
        <p:spPr>
          <a:xfrm>
            <a:off x="2216426" y="1120446"/>
            <a:ext cx="4979505" cy="584775"/>
          </a:xfrm>
          <a:prstGeom prst="rect">
            <a:avLst/>
          </a:prstGeom>
          <a:noFill/>
        </p:spPr>
        <p:txBody>
          <a:bodyPr wrap="square">
            <a:spAutoFit/>
          </a:bodyPr>
          <a:lstStyle/>
          <a:p>
            <a:r>
              <a:rPr lang="en" sz="3200" b="1" dirty="0">
                <a:latin typeface="Calibri"/>
                <a:ea typeface="Calibri"/>
                <a:cs typeface="Calibri"/>
                <a:sym typeface="Calibri"/>
              </a:rPr>
              <a:t>Testing Technologies used</a:t>
            </a:r>
            <a:endParaRPr lang="en-IN" sz="3200" b="1" dirty="0"/>
          </a:p>
        </p:txBody>
      </p:sp>
    </p:spTree>
    <p:extLst>
      <p:ext uri="{BB962C8B-B14F-4D97-AF65-F5344CB8AC3E}">
        <p14:creationId xmlns:p14="http://schemas.microsoft.com/office/powerpoint/2010/main" val="1510469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1"/>
          <p:cNvSpPr txBox="1">
            <a:spLocks noGrp="1"/>
          </p:cNvSpPr>
          <p:nvPr>
            <p:ph type="title"/>
          </p:nvPr>
        </p:nvSpPr>
        <p:spPr>
          <a:xfrm>
            <a:off x="457200" y="726470"/>
            <a:ext cx="8229600" cy="6912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a:t>Methodology</a:t>
            </a:r>
            <a:endParaRPr/>
          </a:p>
        </p:txBody>
      </p:sp>
      <p:sp>
        <p:nvSpPr>
          <p:cNvPr id="171" name="Google Shape;171;p21"/>
          <p:cNvSpPr txBox="1">
            <a:spLocks noGrp="1"/>
          </p:cNvSpPr>
          <p:nvPr>
            <p:ph idx="1"/>
          </p:nvPr>
        </p:nvSpPr>
        <p:spPr>
          <a:prstGeom prst="rect">
            <a:avLst/>
          </a:prstGeom>
        </p:spPr>
        <p:txBody>
          <a:bodyPr spcFirstLastPara="1" wrap="square" lIns="91425" tIns="45700" rIns="91425" bIns="45700" anchor="t" anchorCtr="0">
            <a:normAutofit/>
          </a:bodyPr>
          <a:lstStyle/>
          <a:p>
            <a:pPr marL="0" lvl="0" indent="0" algn="just" rtl="0">
              <a:lnSpc>
                <a:spcPct val="115000"/>
              </a:lnSpc>
              <a:spcBef>
                <a:spcPts val="0"/>
              </a:spcBef>
              <a:spcAft>
                <a:spcPts val="0"/>
              </a:spcAft>
              <a:buClr>
                <a:schemeClr val="dk1"/>
              </a:buClr>
              <a:buSzPts val="1100"/>
              <a:buFont typeface="Arial"/>
              <a:buNone/>
            </a:pPr>
            <a:r>
              <a:rPr lang="en-US" sz="1800" b="1">
                <a:latin typeface="Arial"/>
                <a:ea typeface="Arial"/>
                <a:cs typeface="Arial"/>
                <a:sym typeface="Arial"/>
              </a:rPr>
              <a:t>A. Enrollment Phase</a:t>
            </a:r>
            <a:endParaRPr sz="1800" b="1">
              <a:latin typeface="Arial"/>
              <a:ea typeface="Arial"/>
              <a:cs typeface="Arial"/>
              <a:sym typeface="Arial"/>
            </a:endParaRPr>
          </a:p>
          <a:p>
            <a:pPr marL="0" lvl="0" indent="0" algn="just" rtl="0">
              <a:lnSpc>
                <a:spcPct val="115000"/>
              </a:lnSpc>
              <a:spcBef>
                <a:spcPts val="0"/>
              </a:spcBef>
              <a:spcAft>
                <a:spcPts val="0"/>
              </a:spcAft>
              <a:buClr>
                <a:schemeClr val="dk1"/>
              </a:buClr>
              <a:buSzPts val="1100"/>
              <a:buFont typeface="Arial"/>
              <a:buNone/>
            </a:pPr>
            <a:r>
              <a:rPr lang="en-US" sz="1800">
                <a:latin typeface="Arial"/>
                <a:ea typeface="Arial"/>
                <a:cs typeface="Arial"/>
                <a:sym typeface="Arial"/>
              </a:rPr>
              <a:t>1)Image Acquisition: For Image acquisition, camera is used to capture an image of the employees working in an organization.</a:t>
            </a:r>
            <a:endParaRPr sz="1800">
              <a:latin typeface="Arial"/>
              <a:ea typeface="Arial"/>
              <a:cs typeface="Arial"/>
              <a:sym typeface="Arial"/>
            </a:endParaRPr>
          </a:p>
          <a:p>
            <a:pPr marL="0" lvl="0" indent="0" algn="just" rtl="0">
              <a:lnSpc>
                <a:spcPct val="115000"/>
              </a:lnSpc>
              <a:spcBef>
                <a:spcPts val="0"/>
              </a:spcBef>
              <a:spcAft>
                <a:spcPts val="0"/>
              </a:spcAft>
              <a:buClr>
                <a:schemeClr val="dk1"/>
              </a:buClr>
              <a:buSzPts val="1100"/>
              <a:buFont typeface="Arial"/>
              <a:buNone/>
            </a:pPr>
            <a:r>
              <a:rPr lang="en-US" sz="1800">
                <a:latin typeface="Arial"/>
                <a:ea typeface="Arial"/>
                <a:cs typeface="Arial"/>
                <a:sym typeface="Arial"/>
              </a:rPr>
              <a:t>2) Face Detection and Face cropping: For face detection cascading algorithm is used. Further face cropping is done using imcrop (image) command that separates the facial area from the rest of the background image. This faces is stored in the database.</a:t>
            </a:r>
            <a:endParaRPr sz="1800">
              <a:latin typeface="Arial"/>
              <a:ea typeface="Arial"/>
              <a:cs typeface="Arial"/>
              <a:sym typeface="Arial"/>
            </a:endParaRPr>
          </a:p>
          <a:p>
            <a:pPr marL="0" lvl="0" indent="0" algn="just" rtl="0">
              <a:lnSpc>
                <a:spcPct val="115000"/>
              </a:lnSpc>
              <a:spcBef>
                <a:spcPts val="0"/>
              </a:spcBef>
              <a:spcAft>
                <a:spcPts val="0"/>
              </a:spcAft>
              <a:buClr>
                <a:schemeClr val="dk1"/>
              </a:buClr>
              <a:buSzPts val="1100"/>
              <a:buFont typeface="Arial"/>
              <a:buNone/>
            </a:pPr>
            <a:r>
              <a:rPr lang="en-US" sz="1800">
                <a:latin typeface="Arial"/>
                <a:ea typeface="Arial"/>
                <a:cs typeface="Arial"/>
                <a:sym typeface="Arial"/>
              </a:rPr>
              <a:t>3) Feature Extraction: Feature extraction is done by using linear binary pattern algorithm. Feature extraction is helpful for face detection and recognition.</a:t>
            </a:r>
            <a:endParaRPr sz="1800">
              <a:latin typeface="Arial"/>
              <a:ea typeface="Arial"/>
              <a:cs typeface="Arial"/>
              <a:sym typeface="Arial"/>
            </a:endParaRPr>
          </a:p>
          <a:p>
            <a:pPr marL="0" lvl="0" indent="0" algn="just" rtl="0">
              <a:lnSpc>
                <a:spcPct val="115000"/>
              </a:lnSpc>
              <a:spcBef>
                <a:spcPts val="0"/>
              </a:spcBef>
              <a:spcAft>
                <a:spcPts val="0"/>
              </a:spcAft>
              <a:buClr>
                <a:schemeClr val="dk1"/>
              </a:buClr>
              <a:buSzPts val="1100"/>
              <a:buFont typeface="Arial"/>
              <a:buNone/>
            </a:pPr>
            <a:r>
              <a:rPr lang="en-US" sz="1800">
                <a:latin typeface="Arial"/>
                <a:ea typeface="Arial"/>
                <a:cs typeface="Arial"/>
                <a:sym typeface="Arial"/>
              </a:rPr>
              <a:t> 4) Database: Extracted features of employees or persons will be stored in Database. </a:t>
            </a:r>
            <a:endParaRPr sz="1800">
              <a:latin typeface="Arial"/>
              <a:ea typeface="Arial"/>
              <a:cs typeface="Arial"/>
              <a:sym typeface="Arial"/>
            </a:endParaRPr>
          </a:p>
          <a:p>
            <a:pPr marL="0" lvl="0" indent="0" algn="just" rtl="0">
              <a:spcBef>
                <a:spcPts val="360"/>
              </a:spcBef>
              <a:spcAft>
                <a:spcPts val="0"/>
              </a:spcAft>
              <a:buNone/>
            </a:pPr>
            <a:endParaRPr/>
          </a:p>
        </p:txBody>
      </p:sp>
      <p:sp>
        <p:nvSpPr>
          <p:cNvPr id="172" name="Google Shape;172;p21"/>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pic>
        <p:nvPicPr>
          <p:cNvPr id="173" name="Google Shape;173;p21" descr="A close up of a sign&#10;&#10;Description automatically generated"/>
          <p:cNvPicPr preferRelativeResize="0"/>
          <p:nvPr/>
        </p:nvPicPr>
        <p:blipFill rotWithShape="1">
          <a:blip r:embed="rId3">
            <a:alphaModFix/>
          </a:blip>
          <a:srcRect/>
          <a:stretch/>
        </p:blipFill>
        <p:spPr>
          <a:xfrm>
            <a:off x="0" y="0"/>
            <a:ext cx="3021525" cy="784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2"/>
          <p:cNvSpPr txBox="1">
            <a:spLocks noGrp="1"/>
          </p:cNvSpPr>
          <p:nvPr>
            <p:ph type="title"/>
          </p:nvPr>
        </p:nvSpPr>
        <p:spPr>
          <a:xfrm>
            <a:off x="457200" y="633046"/>
            <a:ext cx="8229600" cy="7845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a:t>Methodology</a:t>
            </a:r>
            <a:endParaRPr/>
          </a:p>
        </p:txBody>
      </p:sp>
      <p:sp>
        <p:nvSpPr>
          <p:cNvPr id="180" name="Google Shape;180;p22"/>
          <p:cNvSpPr txBox="1">
            <a:spLocks noGrp="1"/>
          </p:cNvSpPr>
          <p:nvPr>
            <p:ph idx="1"/>
          </p:nvPr>
        </p:nvSpPr>
        <p:spPr>
          <a:prstGeom prst="rect">
            <a:avLst/>
          </a:prstGeom>
        </p:spPr>
        <p:txBody>
          <a:bodyPr spcFirstLastPara="1" wrap="square" lIns="91425" tIns="45700" rIns="91425" bIns="45700" anchor="t" anchorCtr="0">
            <a:normAutofit/>
          </a:bodyPr>
          <a:lstStyle/>
          <a:p>
            <a:pPr marL="114300" lvl="0" indent="0" algn="just" rtl="0">
              <a:lnSpc>
                <a:spcPct val="115000"/>
              </a:lnSpc>
              <a:spcBef>
                <a:spcPts val="400"/>
              </a:spcBef>
              <a:spcAft>
                <a:spcPts val="0"/>
              </a:spcAft>
              <a:buClr>
                <a:schemeClr val="dk1"/>
              </a:buClr>
              <a:buSzPts val="1100"/>
              <a:buFont typeface="Arial"/>
              <a:buNone/>
            </a:pPr>
            <a:r>
              <a:rPr lang="en-US" sz="2000" b="1">
                <a:latin typeface="Arial"/>
                <a:ea typeface="Arial"/>
                <a:cs typeface="Arial"/>
                <a:sym typeface="Arial"/>
              </a:rPr>
              <a:t>B. Routine Attendance after Enrollment Phase</a:t>
            </a:r>
            <a:endParaRPr sz="2000" b="1">
              <a:latin typeface="Arial"/>
              <a:ea typeface="Arial"/>
              <a:cs typeface="Arial"/>
              <a:sym typeface="Arial"/>
            </a:endParaRPr>
          </a:p>
          <a:p>
            <a:pPr marL="457200" lvl="0" indent="-355600" algn="just" rtl="0">
              <a:lnSpc>
                <a:spcPct val="115000"/>
              </a:lnSpc>
              <a:spcBef>
                <a:spcPts val="0"/>
              </a:spcBef>
              <a:spcAft>
                <a:spcPts val="0"/>
              </a:spcAft>
              <a:buSzPts val="2000"/>
              <a:buFont typeface="Arial"/>
              <a:buChar char="•"/>
            </a:pPr>
            <a:r>
              <a:rPr lang="en-US" sz="2000">
                <a:latin typeface="Arial"/>
                <a:ea typeface="Arial"/>
                <a:cs typeface="Arial"/>
                <a:sym typeface="Arial"/>
              </a:rPr>
              <a:t>Routine attendance will start after extracting the features of all the images stored in the database. We have followed the same steps as given in enrollment phase i.e. image acquisition, Face detection, and face cropping.</a:t>
            </a:r>
            <a:endParaRPr sz="2000">
              <a:latin typeface="Arial"/>
              <a:ea typeface="Arial"/>
              <a:cs typeface="Arial"/>
              <a:sym typeface="Arial"/>
            </a:endParaRPr>
          </a:p>
          <a:p>
            <a:pPr marL="457200" lvl="0" indent="-342900" algn="just" rtl="0">
              <a:spcBef>
                <a:spcPts val="0"/>
              </a:spcBef>
              <a:spcAft>
                <a:spcPts val="0"/>
              </a:spcAft>
              <a:buSzPts val="1800"/>
              <a:buFont typeface="Arial"/>
              <a:buChar char="•"/>
            </a:pPr>
            <a:r>
              <a:rPr lang="en-US" sz="2000">
                <a:latin typeface="Arial"/>
                <a:ea typeface="Arial"/>
                <a:cs typeface="Arial"/>
                <a:sym typeface="Arial"/>
              </a:rPr>
              <a:t>Face recognition is done by using the Local binary pattern by taking 3x3 block a time and comparing central block with surrounding blocks and compare with features stored in the database. If after face recognition face of the person is matched in the database then update the attendance otherwise show the dialogbox with invalid person</a:t>
            </a:r>
            <a:r>
              <a:rPr lang="en-US" sz="3400">
                <a:latin typeface="Arial"/>
                <a:ea typeface="Arial"/>
                <a:cs typeface="Arial"/>
                <a:sym typeface="Arial"/>
              </a:rPr>
              <a:t>.</a:t>
            </a:r>
            <a:endParaRPr sz="3400"/>
          </a:p>
        </p:txBody>
      </p:sp>
      <p:sp>
        <p:nvSpPr>
          <p:cNvPr id="181" name="Google Shape;181;p22"/>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pic>
        <p:nvPicPr>
          <p:cNvPr id="182" name="Google Shape;182;p22" descr="A close up of a sign&#10;&#10;Description automatically generated"/>
          <p:cNvPicPr preferRelativeResize="0"/>
          <p:nvPr/>
        </p:nvPicPr>
        <p:blipFill rotWithShape="1">
          <a:blip r:embed="rId3">
            <a:alphaModFix/>
          </a:blip>
          <a:srcRect/>
          <a:stretch/>
        </p:blipFill>
        <p:spPr>
          <a:xfrm>
            <a:off x="0" y="0"/>
            <a:ext cx="3021525" cy="784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3"/>
          <p:cNvSpPr txBox="1">
            <a:spLocks noGrp="1"/>
          </p:cNvSpPr>
          <p:nvPr>
            <p:ph type="title"/>
          </p:nvPr>
        </p:nvSpPr>
        <p:spPr>
          <a:xfrm>
            <a:off x="457200" y="711945"/>
            <a:ext cx="8229600" cy="7056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a:t>Methodology</a:t>
            </a:r>
            <a:endParaRPr/>
          </a:p>
        </p:txBody>
      </p:sp>
      <p:sp>
        <p:nvSpPr>
          <p:cNvPr id="189" name="Google Shape;189;p23"/>
          <p:cNvSpPr txBox="1">
            <a:spLocks noGrp="1"/>
          </p:cNvSpPr>
          <p:nvPr>
            <p:ph idx="1"/>
          </p:nvPr>
        </p:nvSpPr>
        <p:spPr>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r>
              <a:rPr lang="en-US"/>
              <a:t>       </a:t>
            </a:r>
            <a:endParaRPr/>
          </a:p>
        </p:txBody>
      </p:sp>
      <p:sp>
        <p:nvSpPr>
          <p:cNvPr id="190" name="Google Shape;190;p23"/>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pic>
        <p:nvPicPr>
          <p:cNvPr id="191" name="Google Shape;191;p23" descr="A close up of a sign&#10;&#10;Description automatically generated"/>
          <p:cNvPicPr preferRelativeResize="0"/>
          <p:nvPr/>
        </p:nvPicPr>
        <p:blipFill rotWithShape="1">
          <a:blip r:embed="rId3">
            <a:alphaModFix/>
          </a:blip>
          <a:srcRect/>
          <a:stretch/>
        </p:blipFill>
        <p:spPr>
          <a:xfrm>
            <a:off x="0" y="0"/>
            <a:ext cx="3021525" cy="784600"/>
          </a:xfrm>
          <a:prstGeom prst="rect">
            <a:avLst/>
          </a:prstGeom>
          <a:noFill/>
          <a:ln>
            <a:noFill/>
          </a:ln>
        </p:spPr>
      </p:pic>
      <p:pic>
        <p:nvPicPr>
          <p:cNvPr id="192" name="Google Shape;192;p23"/>
          <p:cNvPicPr preferRelativeResize="0"/>
          <p:nvPr/>
        </p:nvPicPr>
        <p:blipFill>
          <a:blip r:embed="rId4">
            <a:alphaModFix/>
          </a:blip>
          <a:stretch>
            <a:fillRect/>
          </a:stretch>
        </p:blipFill>
        <p:spPr>
          <a:xfrm>
            <a:off x="861925" y="1729025"/>
            <a:ext cx="7143750" cy="4460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4"/>
          <p:cNvSpPr txBox="1">
            <a:spLocks noGrp="1"/>
          </p:cNvSpPr>
          <p:nvPr>
            <p:ph type="title"/>
          </p:nvPr>
        </p:nvSpPr>
        <p:spPr>
          <a:xfrm>
            <a:off x="457200" y="633046"/>
            <a:ext cx="8229600" cy="7845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a:t>Methodology</a:t>
            </a:r>
            <a:endParaRPr/>
          </a:p>
        </p:txBody>
      </p:sp>
      <p:sp>
        <p:nvSpPr>
          <p:cNvPr id="199" name="Google Shape;199;p24"/>
          <p:cNvSpPr txBox="1">
            <a:spLocks noGrp="1"/>
          </p:cNvSpPr>
          <p:nvPr>
            <p:ph idx="1"/>
          </p:nvPr>
        </p:nvSpPr>
        <p:spPr>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r>
              <a:rPr lang="en-US"/>
              <a:t>    </a:t>
            </a:r>
            <a:endParaRPr/>
          </a:p>
        </p:txBody>
      </p:sp>
      <p:sp>
        <p:nvSpPr>
          <p:cNvPr id="200" name="Google Shape;200;p24"/>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pic>
        <p:nvPicPr>
          <p:cNvPr id="201" name="Google Shape;201;p24" descr="A close up of a sign&#10;&#10;Description automatically generated"/>
          <p:cNvPicPr preferRelativeResize="0"/>
          <p:nvPr/>
        </p:nvPicPr>
        <p:blipFill rotWithShape="1">
          <a:blip r:embed="rId3">
            <a:alphaModFix/>
          </a:blip>
          <a:srcRect/>
          <a:stretch/>
        </p:blipFill>
        <p:spPr>
          <a:xfrm>
            <a:off x="0" y="0"/>
            <a:ext cx="3021525" cy="784600"/>
          </a:xfrm>
          <a:prstGeom prst="rect">
            <a:avLst/>
          </a:prstGeom>
          <a:noFill/>
          <a:ln>
            <a:noFill/>
          </a:ln>
        </p:spPr>
      </p:pic>
      <p:pic>
        <p:nvPicPr>
          <p:cNvPr id="202" name="Google Shape;202;p24"/>
          <p:cNvPicPr preferRelativeResize="0"/>
          <p:nvPr/>
        </p:nvPicPr>
        <p:blipFill>
          <a:blip r:embed="rId4">
            <a:alphaModFix/>
          </a:blip>
          <a:stretch>
            <a:fillRect/>
          </a:stretch>
        </p:blipFill>
        <p:spPr>
          <a:xfrm>
            <a:off x="653825" y="1540150"/>
            <a:ext cx="8032974" cy="47078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5"/>
          <p:cNvSpPr txBox="1">
            <a:spLocks noGrp="1"/>
          </p:cNvSpPr>
          <p:nvPr>
            <p:ph type="title"/>
          </p:nvPr>
        </p:nvSpPr>
        <p:spPr>
          <a:xfrm>
            <a:off x="457200" y="633047"/>
            <a:ext cx="8229600" cy="7845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a:t>Result Analysis in real time</a:t>
            </a:r>
            <a:endParaRPr/>
          </a:p>
        </p:txBody>
      </p:sp>
      <p:sp>
        <p:nvSpPr>
          <p:cNvPr id="209" name="Google Shape;209;p25"/>
          <p:cNvSpPr txBox="1">
            <a:spLocks noGrp="1"/>
          </p:cNvSpPr>
          <p:nvPr>
            <p:ph idx="1"/>
          </p:nvPr>
        </p:nvSpPr>
        <p:spPr>
          <a:xfrm>
            <a:off x="457200" y="1600200"/>
            <a:ext cx="8229600" cy="35289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r>
              <a:rPr lang="en-US"/>
              <a:t>Faces are recognized through the camera.</a:t>
            </a:r>
            <a:endParaRPr/>
          </a:p>
        </p:txBody>
      </p:sp>
      <p:sp>
        <p:nvSpPr>
          <p:cNvPr id="210" name="Google Shape;210;p25"/>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pic>
        <p:nvPicPr>
          <p:cNvPr id="211" name="Google Shape;211;p25"/>
          <p:cNvPicPr preferRelativeResize="0"/>
          <p:nvPr/>
        </p:nvPicPr>
        <p:blipFill>
          <a:blip r:embed="rId3">
            <a:alphaModFix/>
          </a:blip>
          <a:stretch>
            <a:fillRect/>
          </a:stretch>
        </p:blipFill>
        <p:spPr>
          <a:xfrm>
            <a:off x="350025" y="2700400"/>
            <a:ext cx="8443950" cy="3655950"/>
          </a:xfrm>
          <a:prstGeom prst="rect">
            <a:avLst/>
          </a:prstGeom>
          <a:noFill/>
          <a:ln>
            <a:noFill/>
          </a:ln>
        </p:spPr>
      </p:pic>
      <p:pic>
        <p:nvPicPr>
          <p:cNvPr id="212" name="Google Shape;212;p25" descr="A close up of a sign&#10;&#10;Description automatically generated"/>
          <p:cNvPicPr preferRelativeResize="0"/>
          <p:nvPr/>
        </p:nvPicPr>
        <p:blipFill rotWithShape="1">
          <a:blip r:embed="rId4">
            <a:alphaModFix/>
          </a:blip>
          <a:srcRect/>
          <a:stretch/>
        </p:blipFill>
        <p:spPr>
          <a:xfrm>
            <a:off x="0" y="0"/>
            <a:ext cx="3021525" cy="784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6"/>
          <p:cNvSpPr txBox="1">
            <a:spLocks noGrp="1"/>
          </p:cNvSpPr>
          <p:nvPr>
            <p:ph type="title"/>
          </p:nvPr>
        </p:nvSpPr>
        <p:spPr>
          <a:xfrm>
            <a:off x="457200" y="1046101"/>
            <a:ext cx="8229600" cy="7845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a:t>Attendance will be recorded in this way.</a:t>
            </a:r>
            <a:endParaRPr/>
          </a:p>
        </p:txBody>
      </p:sp>
      <p:sp>
        <p:nvSpPr>
          <p:cNvPr id="219" name="Google Shape;219;p26"/>
          <p:cNvSpPr txBox="1">
            <a:spLocks noGrp="1"/>
          </p:cNvSpPr>
          <p:nvPr>
            <p:ph idx="1"/>
          </p:nvPr>
        </p:nvSpPr>
        <p:spPr>
          <a:xfrm>
            <a:off x="457200" y="1600200"/>
            <a:ext cx="8229600" cy="33576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r>
              <a:rPr lang="en-US"/>
              <a:t>               </a:t>
            </a:r>
            <a:endParaRPr/>
          </a:p>
          <a:p>
            <a:pPr marL="0" lvl="0" indent="0" algn="l" rtl="0">
              <a:spcBef>
                <a:spcPts val="360"/>
              </a:spcBef>
              <a:spcAft>
                <a:spcPts val="0"/>
              </a:spcAft>
              <a:buNone/>
            </a:pPr>
            <a:endParaRPr/>
          </a:p>
          <a:p>
            <a:pPr marL="0" lvl="0" indent="0" algn="l" rtl="0">
              <a:spcBef>
                <a:spcPts val="360"/>
              </a:spcBef>
              <a:spcAft>
                <a:spcPts val="0"/>
              </a:spcAft>
              <a:buNone/>
            </a:pPr>
            <a:endParaRPr/>
          </a:p>
        </p:txBody>
      </p:sp>
      <p:sp>
        <p:nvSpPr>
          <p:cNvPr id="220" name="Google Shape;220;p26"/>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pic>
        <p:nvPicPr>
          <p:cNvPr id="221" name="Google Shape;221;p26"/>
          <p:cNvPicPr preferRelativeResize="0"/>
          <p:nvPr/>
        </p:nvPicPr>
        <p:blipFill>
          <a:blip r:embed="rId3">
            <a:alphaModFix/>
          </a:blip>
          <a:stretch>
            <a:fillRect/>
          </a:stretch>
        </p:blipFill>
        <p:spPr>
          <a:xfrm>
            <a:off x="457200" y="2573700"/>
            <a:ext cx="8229600" cy="3251825"/>
          </a:xfrm>
          <a:prstGeom prst="rect">
            <a:avLst/>
          </a:prstGeom>
          <a:noFill/>
          <a:ln>
            <a:noFill/>
          </a:ln>
        </p:spPr>
      </p:pic>
      <p:pic>
        <p:nvPicPr>
          <p:cNvPr id="222" name="Google Shape;222;p26" descr="A close up of a sign&#10;&#10;Description automatically generated"/>
          <p:cNvPicPr preferRelativeResize="0"/>
          <p:nvPr/>
        </p:nvPicPr>
        <p:blipFill rotWithShape="1">
          <a:blip r:embed="rId4">
            <a:alphaModFix/>
          </a:blip>
          <a:srcRect/>
          <a:stretch/>
        </p:blipFill>
        <p:spPr>
          <a:xfrm>
            <a:off x="0" y="0"/>
            <a:ext cx="3021525" cy="784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7"/>
          <p:cNvSpPr txBox="1">
            <a:spLocks noGrp="1"/>
          </p:cNvSpPr>
          <p:nvPr>
            <p:ph type="title"/>
          </p:nvPr>
        </p:nvSpPr>
        <p:spPr>
          <a:xfrm>
            <a:off x="457200" y="1052502"/>
            <a:ext cx="8229600" cy="676500"/>
          </a:xfrm>
          <a:prstGeom prst="rect">
            <a:avLst/>
          </a:prstGeom>
        </p:spPr>
        <p:txBody>
          <a:bodyPr spcFirstLastPara="1" wrap="square" lIns="91425" tIns="45700" rIns="91425" bIns="45700" anchor="ctr" anchorCtr="0">
            <a:normAutofit fontScale="90000"/>
          </a:bodyPr>
          <a:lstStyle/>
          <a:p>
            <a:pPr marL="0" lvl="0" indent="0" algn="ctr" rtl="0">
              <a:spcBef>
                <a:spcPts val="0"/>
              </a:spcBef>
              <a:spcAft>
                <a:spcPts val="0"/>
              </a:spcAft>
              <a:buNone/>
            </a:pPr>
            <a:r>
              <a:rPr lang="en-US"/>
              <a:t>The mail will be send to parents as shown in the below picture.</a:t>
            </a:r>
            <a:endParaRPr/>
          </a:p>
        </p:txBody>
      </p:sp>
      <p:sp>
        <p:nvSpPr>
          <p:cNvPr id="229" name="Google Shape;229;p27"/>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pic>
        <p:nvPicPr>
          <p:cNvPr id="230" name="Google Shape;230;p27"/>
          <p:cNvPicPr preferRelativeResize="0"/>
          <p:nvPr/>
        </p:nvPicPr>
        <p:blipFill>
          <a:blip r:embed="rId3">
            <a:alphaModFix/>
          </a:blip>
          <a:stretch>
            <a:fillRect/>
          </a:stretch>
        </p:blipFill>
        <p:spPr>
          <a:xfrm>
            <a:off x="1095600" y="3050925"/>
            <a:ext cx="6638925" cy="2209800"/>
          </a:xfrm>
          <a:prstGeom prst="rect">
            <a:avLst/>
          </a:prstGeom>
          <a:noFill/>
          <a:ln>
            <a:noFill/>
          </a:ln>
        </p:spPr>
      </p:pic>
      <p:pic>
        <p:nvPicPr>
          <p:cNvPr id="231" name="Google Shape;231;p27" descr="A close up of a sign&#10;&#10;Description automatically generated"/>
          <p:cNvPicPr preferRelativeResize="0"/>
          <p:nvPr/>
        </p:nvPicPr>
        <p:blipFill rotWithShape="1">
          <a:blip r:embed="rId4">
            <a:alphaModFix/>
          </a:blip>
          <a:srcRect/>
          <a:stretch/>
        </p:blipFill>
        <p:spPr>
          <a:xfrm>
            <a:off x="0" y="0"/>
            <a:ext cx="3021525" cy="784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8"/>
          <p:cNvSpPr txBox="1">
            <a:spLocks noGrp="1"/>
          </p:cNvSpPr>
          <p:nvPr>
            <p:ph type="title"/>
          </p:nvPr>
        </p:nvSpPr>
        <p:spPr>
          <a:xfrm>
            <a:off x="457200" y="633051"/>
            <a:ext cx="8229600" cy="9072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a:t>Limitations and Applications</a:t>
            </a:r>
            <a:endParaRPr/>
          </a:p>
        </p:txBody>
      </p:sp>
      <p:sp>
        <p:nvSpPr>
          <p:cNvPr id="238" name="Google Shape;238;p28"/>
          <p:cNvSpPr txBox="1">
            <a:spLocks noGrp="1"/>
          </p:cNvSpPr>
          <p:nvPr>
            <p:ph idx="1"/>
          </p:nvPr>
        </p:nvSpPr>
        <p:spPr>
          <a:prstGeom prst="rect">
            <a:avLst/>
          </a:prstGeom>
        </p:spPr>
        <p:txBody>
          <a:bodyPr spcFirstLastPara="1" wrap="square" lIns="91425" tIns="45700" rIns="91425" bIns="45700" anchor="t" anchorCtr="0">
            <a:normAutofit/>
          </a:bodyPr>
          <a:lstStyle/>
          <a:p>
            <a:pPr marL="0" lvl="0" indent="0" algn="just" rtl="0">
              <a:spcBef>
                <a:spcPts val="360"/>
              </a:spcBef>
              <a:spcAft>
                <a:spcPts val="0"/>
              </a:spcAft>
              <a:buNone/>
            </a:pPr>
            <a:r>
              <a:rPr lang="en-US" dirty="0"/>
              <a:t>Limitation:</a:t>
            </a:r>
            <a:endParaRPr dirty="0"/>
          </a:p>
          <a:p>
            <a:pPr marL="0" lvl="0" indent="0" algn="just" rtl="0">
              <a:spcBef>
                <a:spcPts val="360"/>
              </a:spcBef>
              <a:spcAft>
                <a:spcPts val="0"/>
              </a:spcAft>
              <a:buNone/>
            </a:pPr>
            <a:r>
              <a:rPr lang="en-US" sz="2000" dirty="0"/>
              <a:t>Can’t take a data of a particular person because </a:t>
            </a:r>
            <a:r>
              <a:rPr lang="en-US" sz="2000" dirty="0" err="1"/>
              <a:t>matlab</a:t>
            </a:r>
            <a:r>
              <a:rPr lang="en-US" sz="2000" dirty="0"/>
              <a:t> won’t support.</a:t>
            </a:r>
            <a:endParaRPr sz="2000" dirty="0"/>
          </a:p>
          <a:p>
            <a:pPr marL="0" lvl="0" indent="0" algn="just" rtl="0">
              <a:spcBef>
                <a:spcPts val="360"/>
              </a:spcBef>
              <a:spcAft>
                <a:spcPts val="0"/>
              </a:spcAft>
              <a:buNone/>
            </a:pPr>
            <a:endParaRPr lang="en-US" dirty="0"/>
          </a:p>
          <a:p>
            <a:pPr marL="0" lvl="0" indent="0" algn="just" rtl="0">
              <a:spcBef>
                <a:spcPts val="360"/>
              </a:spcBef>
              <a:spcAft>
                <a:spcPts val="0"/>
              </a:spcAft>
              <a:buNone/>
            </a:pPr>
            <a:r>
              <a:rPr lang="en-US" dirty="0"/>
              <a:t>Applications:</a:t>
            </a:r>
            <a:endParaRPr dirty="0"/>
          </a:p>
          <a:p>
            <a:pPr marL="285750" indent="-285750" algn="just"/>
            <a:r>
              <a:rPr lang="en-US" sz="1800" dirty="0">
                <a:latin typeface="Times New Roman" panose="02020603050405020304" pitchFamily="18" charset="0"/>
                <a:cs typeface="Times New Roman" panose="02020603050405020304" pitchFamily="18" charset="0"/>
              </a:rPr>
              <a:t>Can be used for various places such as schools, colleges and etc. for taking attendance</a:t>
            </a:r>
            <a:r>
              <a:rPr lang="en-US" sz="1800" dirty="0"/>
              <a:t>.</a:t>
            </a:r>
          </a:p>
          <a:p>
            <a:pPr marL="285750" indent="-285750" algn="just"/>
            <a:r>
              <a:rPr lang="en-US" sz="1800" b="0" i="0" dirty="0">
                <a:solidFill>
                  <a:schemeClr val="tx1"/>
                </a:solidFill>
                <a:effectLst/>
                <a:latin typeface="Times New Roman" panose="02020603050405020304" pitchFamily="18" charset="0"/>
                <a:cs typeface="Times New Roman" panose="02020603050405020304" pitchFamily="18" charset="0"/>
              </a:rPr>
              <a:t>Airport authorities use facial recognition at security check-ins for international flights.</a:t>
            </a:r>
          </a:p>
          <a:p>
            <a:pPr marL="285750" indent="-285750" algn="just"/>
            <a:r>
              <a:rPr lang="en-US" sz="1800" b="0" i="0" dirty="0">
                <a:solidFill>
                  <a:schemeClr val="tx1"/>
                </a:solidFill>
                <a:effectLst/>
                <a:latin typeface="Times New Roman" panose="02020603050405020304" pitchFamily="18" charset="0"/>
                <a:cs typeface="Times New Roman" panose="02020603050405020304" pitchFamily="18" charset="0"/>
              </a:rPr>
              <a:t>Facial recognition system has become indispensable in payments, enabling contactless payment methods by scanning an individual’s biometric features</a:t>
            </a:r>
            <a:r>
              <a:rPr lang="en-US" sz="1050" b="0" i="0" dirty="0">
                <a:solidFill>
                  <a:srgbClr val="737373"/>
                </a:solidFill>
                <a:effectLst/>
                <a:latin typeface="Open Sans" panose="020B0606030504020204" pitchFamily="34" charset="0"/>
              </a:rPr>
              <a:t>.</a:t>
            </a:r>
          </a:p>
          <a:p>
            <a:pPr marL="285750" indent="-285750" algn="just"/>
            <a:r>
              <a:rPr lang="en-US" sz="1800" b="0" i="0" dirty="0">
                <a:solidFill>
                  <a:schemeClr val="tx1"/>
                </a:solidFill>
                <a:effectLst/>
                <a:latin typeface="Times New Roman" panose="02020603050405020304" pitchFamily="18" charset="0"/>
                <a:cs typeface="Times New Roman" panose="02020603050405020304" pitchFamily="18" charset="0"/>
              </a:rPr>
              <a:t>Facial recognition helps in the patient check-in process, real-time emotion detection, patient tracking, diagnosis of certain diseases or conditions, staff identification and facilities security.</a:t>
            </a:r>
          </a:p>
          <a:p>
            <a:pPr marL="0" lvl="0" indent="0" algn="just" rtl="0">
              <a:spcBef>
                <a:spcPts val="360"/>
              </a:spcBef>
              <a:spcAft>
                <a:spcPts val="0"/>
              </a:spcAft>
              <a:buNone/>
            </a:pPr>
            <a:endParaRPr sz="1600" dirty="0">
              <a:solidFill>
                <a:schemeClr val="tx1"/>
              </a:solidFill>
              <a:latin typeface="Times New Roman" panose="02020603050405020304" pitchFamily="18" charset="0"/>
              <a:cs typeface="Times New Roman" panose="02020603050405020304" pitchFamily="18" charset="0"/>
            </a:endParaRPr>
          </a:p>
        </p:txBody>
      </p:sp>
      <p:sp>
        <p:nvSpPr>
          <p:cNvPr id="239" name="Google Shape;239;p28"/>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pic>
        <p:nvPicPr>
          <p:cNvPr id="240" name="Google Shape;240;p28" descr="A close up of a sign&#10;&#10;Description automatically generated"/>
          <p:cNvPicPr preferRelativeResize="0"/>
          <p:nvPr/>
        </p:nvPicPr>
        <p:blipFill rotWithShape="1">
          <a:blip r:embed="rId3">
            <a:alphaModFix/>
          </a:blip>
          <a:srcRect/>
          <a:stretch/>
        </p:blipFill>
        <p:spPr>
          <a:xfrm>
            <a:off x="0" y="0"/>
            <a:ext cx="3021525" cy="784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9"/>
          <p:cNvSpPr txBox="1">
            <a:spLocks noGrp="1"/>
          </p:cNvSpPr>
          <p:nvPr>
            <p:ph type="title"/>
          </p:nvPr>
        </p:nvSpPr>
        <p:spPr>
          <a:xfrm>
            <a:off x="457200" y="1052649"/>
            <a:ext cx="8229600" cy="365101"/>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sz="3955" dirty="0"/>
              <a:t>Conclusion and future scope of this    project</a:t>
            </a:r>
            <a:endParaRPr sz="3955" dirty="0"/>
          </a:p>
        </p:txBody>
      </p:sp>
      <p:sp>
        <p:nvSpPr>
          <p:cNvPr id="247" name="Google Shape;247;p29"/>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
        <p:nvSpPr>
          <p:cNvPr id="248" name="Google Shape;248;p29"/>
          <p:cNvSpPr txBox="1"/>
          <p:nvPr/>
        </p:nvSpPr>
        <p:spPr>
          <a:xfrm>
            <a:off x="363250" y="1946975"/>
            <a:ext cx="8034900" cy="2999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2400" b="1" dirty="0">
                <a:solidFill>
                  <a:schemeClr val="dk1"/>
                </a:solidFill>
                <a:latin typeface="Calibri"/>
                <a:ea typeface="Calibri"/>
                <a:cs typeface="Calibri"/>
                <a:sym typeface="Calibri"/>
              </a:rPr>
              <a:t>Future scope of this project:</a:t>
            </a:r>
            <a:endParaRPr sz="2400" b="1" dirty="0">
              <a:solidFill>
                <a:schemeClr val="dk1"/>
              </a:solidFill>
              <a:latin typeface="Calibri"/>
              <a:ea typeface="Calibri"/>
              <a:cs typeface="Calibri"/>
              <a:sym typeface="Calibri"/>
            </a:endParaRPr>
          </a:p>
          <a:p>
            <a:pPr marL="0" lvl="0" indent="0" algn="just" rtl="0">
              <a:lnSpc>
                <a:spcPct val="115000"/>
              </a:lnSpc>
              <a:spcBef>
                <a:spcPts val="0"/>
              </a:spcBef>
              <a:spcAft>
                <a:spcPts val="0"/>
              </a:spcAft>
              <a:buNone/>
            </a:pPr>
            <a:r>
              <a:rPr lang="en-US" sz="2300" dirty="0">
                <a:solidFill>
                  <a:schemeClr val="dk1"/>
                </a:solidFill>
                <a:latin typeface="Calibri"/>
                <a:ea typeface="Calibri"/>
                <a:cs typeface="Calibri"/>
                <a:sym typeface="Calibri"/>
              </a:rPr>
              <a:t>● Almost all academic institutions require attendance records of students and maintaining attendance manually can be hectic as well as time consuming.</a:t>
            </a:r>
            <a:endParaRPr sz="2300" dirty="0">
              <a:solidFill>
                <a:schemeClr val="dk1"/>
              </a:solidFill>
              <a:latin typeface="Calibri"/>
              <a:ea typeface="Calibri"/>
              <a:cs typeface="Calibri"/>
              <a:sym typeface="Calibri"/>
            </a:endParaRPr>
          </a:p>
          <a:p>
            <a:pPr marL="0" lvl="0" indent="0" algn="just" rtl="0">
              <a:lnSpc>
                <a:spcPct val="115000"/>
              </a:lnSpc>
              <a:spcBef>
                <a:spcPts val="0"/>
              </a:spcBef>
              <a:spcAft>
                <a:spcPts val="0"/>
              </a:spcAft>
              <a:buNone/>
            </a:pPr>
            <a:r>
              <a:rPr lang="en-US" sz="2300" dirty="0">
                <a:solidFill>
                  <a:schemeClr val="dk1"/>
                </a:solidFill>
                <a:latin typeface="Calibri"/>
                <a:ea typeface="Calibri"/>
                <a:cs typeface="Calibri"/>
                <a:sym typeface="Calibri"/>
              </a:rPr>
              <a:t>● Hence maintaining attendance automatically with the help of face recognition will be very helpful and less prone to errors as compared to manual process.</a:t>
            </a:r>
            <a:endParaRPr sz="2300" dirty="0">
              <a:solidFill>
                <a:schemeClr val="dk1"/>
              </a:solidFill>
              <a:latin typeface="Calibri"/>
              <a:ea typeface="Calibri"/>
              <a:cs typeface="Calibri"/>
              <a:sym typeface="Calibri"/>
            </a:endParaRPr>
          </a:p>
        </p:txBody>
      </p:sp>
      <p:pic>
        <p:nvPicPr>
          <p:cNvPr id="249" name="Google Shape;249;p29" descr="A close up of a sign&#10;&#10;Description automatically generated"/>
          <p:cNvPicPr preferRelativeResize="0"/>
          <p:nvPr/>
        </p:nvPicPr>
        <p:blipFill rotWithShape="1">
          <a:blip r:embed="rId3">
            <a:alphaModFix/>
          </a:blip>
          <a:srcRect/>
          <a:stretch/>
        </p:blipFill>
        <p:spPr>
          <a:xfrm>
            <a:off x="0" y="0"/>
            <a:ext cx="3021525" cy="7846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0"/>
          <p:cNvSpPr txBox="1">
            <a:spLocks noGrp="1"/>
          </p:cNvSpPr>
          <p:nvPr>
            <p:ph type="title"/>
          </p:nvPr>
        </p:nvSpPr>
        <p:spPr>
          <a:xfrm>
            <a:off x="457200" y="633046"/>
            <a:ext cx="8229600" cy="7845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dirty="0"/>
              <a:t>Conclusion</a:t>
            </a:r>
            <a:endParaRPr dirty="0"/>
          </a:p>
        </p:txBody>
      </p:sp>
      <p:sp>
        <p:nvSpPr>
          <p:cNvPr id="256" name="Google Shape;256;p30"/>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pic>
        <p:nvPicPr>
          <p:cNvPr id="257" name="Google Shape;257;p30" descr="A close up of a sign&#10;&#10;Description automatically generated"/>
          <p:cNvPicPr preferRelativeResize="0"/>
          <p:nvPr/>
        </p:nvPicPr>
        <p:blipFill rotWithShape="1">
          <a:blip r:embed="rId3">
            <a:alphaModFix/>
          </a:blip>
          <a:srcRect/>
          <a:stretch/>
        </p:blipFill>
        <p:spPr>
          <a:xfrm>
            <a:off x="0" y="0"/>
            <a:ext cx="3021525" cy="784600"/>
          </a:xfrm>
          <a:prstGeom prst="rect">
            <a:avLst/>
          </a:prstGeom>
          <a:noFill/>
          <a:ln>
            <a:noFill/>
          </a:ln>
        </p:spPr>
      </p:pic>
      <p:sp>
        <p:nvSpPr>
          <p:cNvPr id="258" name="Google Shape;258;p30"/>
          <p:cNvSpPr txBox="1"/>
          <p:nvPr/>
        </p:nvSpPr>
        <p:spPr>
          <a:xfrm>
            <a:off x="668375" y="1699975"/>
            <a:ext cx="7860600" cy="3570178"/>
          </a:xfrm>
          <a:prstGeom prst="rect">
            <a:avLst/>
          </a:prstGeom>
          <a:noFill/>
          <a:ln>
            <a:noFill/>
          </a:ln>
        </p:spPr>
        <p:txBody>
          <a:bodyPr spcFirstLastPara="1" wrap="square" lIns="91425" tIns="91425" rIns="91425" bIns="91425" anchor="t" anchorCtr="0">
            <a:spAutoFit/>
          </a:bodyPr>
          <a:lstStyle/>
          <a:p>
            <a:pPr marL="342900" lvl="0" indent="-342900" algn="just" rtl="0">
              <a:spcBef>
                <a:spcPts val="0"/>
              </a:spcBef>
              <a:spcAft>
                <a:spcPts val="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With the advent of fast and cheap machines, digital image processing has become a very highly demanded field of study and practice. It provides solutions to various real-life applications in an economical way.</a:t>
            </a:r>
          </a:p>
          <a:p>
            <a:pPr marL="342900" lvl="0" indent="-342900" algn="just" rtl="0">
              <a:spcBef>
                <a:spcPts val="0"/>
              </a:spcBef>
              <a:spcAft>
                <a:spcPts val="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system can be implemented for better results regarding the management of attendance and leaves. The system will save time, reduce the amount of work the administration has to do and will replace the stationery material with electronic apparatus and reduces the amount of human resource required for the purpose. Hence a system with expected results has been developed but there is still some room for improvement.</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1"/>
          <p:cNvSpPr txBox="1">
            <a:spLocks noGrp="1"/>
          </p:cNvSpPr>
          <p:nvPr>
            <p:ph type="title"/>
          </p:nvPr>
        </p:nvSpPr>
        <p:spPr>
          <a:xfrm>
            <a:off x="457200" y="726475"/>
            <a:ext cx="8229600" cy="5811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a:t>References</a:t>
            </a:r>
            <a:endParaRPr/>
          </a:p>
        </p:txBody>
      </p:sp>
      <p:sp>
        <p:nvSpPr>
          <p:cNvPr id="265" name="Google Shape;265;p31"/>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pic>
        <p:nvPicPr>
          <p:cNvPr id="266" name="Google Shape;266;p31" descr="A close up of a sign&#10;&#10;Description automatically generated"/>
          <p:cNvPicPr preferRelativeResize="0"/>
          <p:nvPr/>
        </p:nvPicPr>
        <p:blipFill rotWithShape="1">
          <a:blip r:embed="rId3">
            <a:alphaModFix/>
          </a:blip>
          <a:srcRect/>
          <a:stretch/>
        </p:blipFill>
        <p:spPr>
          <a:xfrm>
            <a:off x="0" y="0"/>
            <a:ext cx="3021525" cy="784600"/>
          </a:xfrm>
          <a:prstGeom prst="rect">
            <a:avLst/>
          </a:prstGeom>
          <a:noFill/>
          <a:ln>
            <a:noFill/>
          </a:ln>
        </p:spPr>
      </p:pic>
      <p:sp>
        <p:nvSpPr>
          <p:cNvPr id="267" name="Google Shape;267;p31"/>
          <p:cNvSpPr txBox="1"/>
          <p:nvPr/>
        </p:nvSpPr>
        <p:spPr>
          <a:xfrm>
            <a:off x="319650" y="1432625"/>
            <a:ext cx="8674200" cy="5910600"/>
          </a:xfrm>
          <a:prstGeom prst="rect">
            <a:avLst/>
          </a:prstGeom>
          <a:noFill/>
          <a:ln>
            <a:noFill/>
          </a:ln>
        </p:spPr>
        <p:txBody>
          <a:bodyPr spcFirstLastPara="1" wrap="square" lIns="91425" tIns="91425" rIns="91425" bIns="91425" anchor="t" anchorCtr="0">
            <a:spAutoFit/>
          </a:bodyPr>
          <a:lstStyle/>
          <a:p>
            <a:pPr marL="0" lvl="0" indent="0" algn="just" rtl="0">
              <a:lnSpc>
                <a:spcPct val="150000"/>
              </a:lnSpc>
              <a:spcBef>
                <a:spcPts val="1200"/>
              </a:spcBef>
              <a:spcAft>
                <a:spcPts val="0"/>
              </a:spcAft>
              <a:buNone/>
            </a:pPr>
            <a:r>
              <a:rPr lang="en-US" sz="1200" dirty="0">
                <a:solidFill>
                  <a:schemeClr val="dk1"/>
                </a:solidFill>
                <a:latin typeface="Times New Roman"/>
                <a:ea typeface="Times New Roman"/>
                <a:cs typeface="Times New Roman"/>
                <a:sym typeface="Times New Roman"/>
              </a:rPr>
              <a:t>[1] Muhammad </a:t>
            </a:r>
            <a:r>
              <a:rPr lang="en-US" sz="1200" dirty="0" err="1">
                <a:solidFill>
                  <a:schemeClr val="dk1"/>
                </a:solidFill>
                <a:latin typeface="Times New Roman"/>
                <a:ea typeface="Times New Roman"/>
                <a:cs typeface="Times New Roman"/>
                <a:sym typeface="Times New Roman"/>
              </a:rPr>
              <a:t>Fuzail</a:t>
            </a:r>
            <a:r>
              <a:rPr lang="en-US" sz="1200" dirty="0">
                <a:solidFill>
                  <a:schemeClr val="dk1"/>
                </a:solidFill>
                <a:latin typeface="Times New Roman"/>
                <a:ea typeface="Times New Roman"/>
                <a:cs typeface="Times New Roman"/>
                <a:sym typeface="Times New Roman"/>
              </a:rPr>
              <a:t>, Hafiz Muhammad Fahad </a:t>
            </a:r>
            <a:r>
              <a:rPr lang="en-US" sz="1200" dirty="0" err="1">
                <a:solidFill>
                  <a:schemeClr val="dk1"/>
                </a:solidFill>
                <a:latin typeface="Times New Roman"/>
                <a:ea typeface="Times New Roman"/>
                <a:cs typeface="Times New Roman"/>
                <a:sym typeface="Times New Roman"/>
              </a:rPr>
              <a:t>Nouman</a:t>
            </a:r>
            <a:r>
              <a:rPr lang="en-US" sz="1200" dirty="0">
                <a:solidFill>
                  <a:schemeClr val="dk1"/>
                </a:solidFill>
                <a:latin typeface="Times New Roman"/>
                <a:ea typeface="Times New Roman"/>
                <a:cs typeface="Times New Roman"/>
                <a:sym typeface="Times New Roman"/>
              </a:rPr>
              <a:t>, Muhammad Omer Mushtaq, </a:t>
            </a:r>
            <a:r>
              <a:rPr lang="en-US" sz="1200" dirty="0" err="1">
                <a:solidFill>
                  <a:schemeClr val="dk1"/>
                </a:solidFill>
                <a:latin typeface="Times New Roman"/>
                <a:ea typeface="Times New Roman"/>
                <a:cs typeface="Times New Roman"/>
                <a:sym typeface="Times New Roman"/>
              </a:rPr>
              <a:t>Binish</a:t>
            </a:r>
            <a:r>
              <a:rPr lang="en-US" sz="1200" dirty="0">
                <a:solidFill>
                  <a:schemeClr val="dk1"/>
                </a:solidFill>
                <a:latin typeface="Times New Roman"/>
                <a:ea typeface="Times New Roman"/>
                <a:cs typeface="Times New Roman"/>
                <a:sym typeface="Times New Roman"/>
              </a:rPr>
              <a:t> Raza, </a:t>
            </a:r>
            <a:r>
              <a:rPr lang="en-US" sz="1200" dirty="0" err="1">
                <a:solidFill>
                  <a:schemeClr val="dk1"/>
                </a:solidFill>
                <a:latin typeface="Times New Roman"/>
                <a:ea typeface="Times New Roman"/>
                <a:cs typeface="Times New Roman"/>
                <a:sym typeface="Times New Roman"/>
              </a:rPr>
              <a:t>Awais</a:t>
            </a:r>
            <a:r>
              <a:rPr lang="en-US" sz="1200" dirty="0">
                <a:solidFill>
                  <a:schemeClr val="dk1"/>
                </a:solidFill>
                <a:latin typeface="Times New Roman"/>
                <a:ea typeface="Times New Roman"/>
                <a:cs typeface="Times New Roman"/>
                <a:sym typeface="Times New Roman"/>
              </a:rPr>
              <a:t> Tayyab, and Muhammad Waqas Talib, “Face Detection System for Attendance of </a:t>
            </a:r>
            <a:r>
              <a:rPr lang="en-US" sz="1200" dirty="0" err="1">
                <a:solidFill>
                  <a:schemeClr val="dk1"/>
                </a:solidFill>
                <a:latin typeface="Times New Roman"/>
                <a:ea typeface="Times New Roman"/>
                <a:cs typeface="Times New Roman"/>
                <a:sym typeface="Times New Roman"/>
              </a:rPr>
              <a:t>Class’</a:t>
            </a:r>
            <a:r>
              <a:rPr lang="en-US" sz="1200" dirty="0">
                <a:solidFill>
                  <a:schemeClr val="dk1"/>
                </a:solidFill>
                <a:latin typeface="Times New Roman"/>
                <a:ea typeface="Times New Roman"/>
                <a:cs typeface="Times New Roman"/>
                <a:sym typeface="Times New Roman"/>
              </a:rPr>
              <a:t> Students”, International Journal Of Multidisciplinary Sciences And Engineering, vol. 5, no. 4, April 2014</a:t>
            </a:r>
            <a:endParaRPr sz="1200" dirty="0">
              <a:solidFill>
                <a:schemeClr val="dk1"/>
              </a:solidFill>
              <a:latin typeface="Times New Roman"/>
              <a:ea typeface="Times New Roman"/>
              <a:cs typeface="Times New Roman"/>
              <a:sym typeface="Times New Roman"/>
            </a:endParaRPr>
          </a:p>
          <a:p>
            <a:pPr marL="0" lvl="0" indent="0" algn="just" rtl="0">
              <a:lnSpc>
                <a:spcPct val="150000"/>
              </a:lnSpc>
              <a:spcBef>
                <a:spcPts val="1200"/>
              </a:spcBef>
              <a:spcAft>
                <a:spcPts val="0"/>
              </a:spcAft>
              <a:buNone/>
            </a:pPr>
            <a:r>
              <a:rPr lang="en-US" sz="1200" dirty="0">
                <a:solidFill>
                  <a:schemeClr val="dk1"/>
                </a:solidFill>
                <a:latin typeface="Times New Roman"/>
                <a:ea typeface="Times New Roman"/>
                <a:cs typeface="Times New Roman"/>
                <a:sym typeface="Times New Roman"/>
              </a:rPr>
              <a:t>[2]Aziza </a:t>
            </a:r>
            <a:r>
              <a:rPr lang="en-US" sz="1200" dirty="0" err="1">
                <a:solidFill>
                  <a:schemeClr val="dk1"/>
                </a:solidFill>
                <a:latin typeface="Times New Roman"/>
                <a:ea typeface="Times New Roman"/>
                <a:cs typeface="Times New Roman"/>
                <a:sym typeface="Times New Roman"/>
              </a:rPr>
              <a:t>Ahmedi</a:t>
            </a:r>
            <a:r>
              <a:rPr lang="en-US" sz="1200" dirty="0">
                <a:solidFill>
                  <a:schemeClr val="dk1"/>
                </a:solidFill>
                <a:latin typeface="Times New Roman"/>
                <a:ea typeface="Times New Roman"/>
                <a:cs typeface="Times New Roman"/>
                <a:sym typeface="Times New Roman"/>
              </a:rPr>
              <a:t> , 2Dr Suvarna </a:t>
            </a:r>
            <a:r>
              <a:rPr lang="en-US" sz="1200" dirty="0" err="1">
                <a:solidFill>
                  <a:schemeClr val="dk1"/>
                </a:solidFill>
                <a:latin typeface="Times New Roman"/>
                <a:ea typeface="Times New Roman"/>
                <a:cs typeface="Times New Roman"/>
                <a:sym typeface="Times New Roman"/>
              </a:rPr>
              <a:t>Nandyal</a:t>
            </a:r>
            <a:r>
              <a:rPr lang="en-US" sz="1200" dirty="0">
                <a:solidFill>
                  <a:schemeClr val="dk1"/>
                </a:solidFill>
                <a:latin typeface="Times New Roman"/>
                <a:ea typeface="Times New Roman"/>
                <a:cs typeface="Times New Roman"/>
                <a:sym typeface="Times New Roman"/>
              </a:rPr>
              <a:t>, “An Automatic Attendance System Using Image processing”, The International Journal Of Engineering And Science (IJES), vol. 4, issue 11 2014.</a:t>
            </a:r>
            <a:endParaRPr sz="1200" dirty="0">
              <a:solidFill>
                <a:schemeClr val="dk1"/>
              </a:solidFill>
              <a:latin typeface="Times New Roman"/>
              <a:ea typeface="Times New Roman"/>
              <a:cs typeface="Times New Roman"/>
              <a:sym typeface="Times New Roman"/>
            </a:endParaRPr>
          </a:p>
          <a:p>
            <a:pPr marL="0" lvl="0" indent="0" algn="just" rtl="0">
              <a:lnSpc>
                <a:spcPct val="150000"/>
              </a:lnSpc>
              <a:spcBef>
                <a:spcPts val="1200"/>
              </a:spcBef>
              <a:spcAft>
                <a:spcPts val="0"/>
              </a:spcAft>
              <a:buNone/>
            </a:pPr>
            <a:r>
              <a:rPr lang="en-US" sz="1200" dirty="0">
                <a:solidFill>
                  <a:schemeClr val="dk1"/>
                </a:solidFill>
                <a:latin typeface="Times New Roman"/>
                <a:ea typeface="Times New Roman"/>
                <a:cs typeface="Times New Roman"/>
                <a:sym typeface="Times New Roman"/>
              </a:rPr>
              <a:t>[3] T Muni Reddy1, V Prasad1, N V </a:t>
            </a:r>
            <a:r>
              <a:rPr lang="en-US" sz="1200" dirty="0" err="1">
                <a:solidFill>
                  <a:schemeClr val="dk1"/>
                </a:solidFill>
                <a:latin typeface="Times New Roman"/>
                <a:ea typeface="Times New Roman"/>
                <a:cs typeface="Times New Roman"/>
                <a:sym typeface="Times New Roman"/>
              </a:rPr>
              <a:t>Ramanaiah</a:t>
            </a:r>
            <a:r>
              <a:rPr lang="en-US" sz="1200" dirty="0">
                <a:solidFill>
                  <a:schemeClr val="dk1"/>
                </a:solidFill>
                <a:latin typeface="Times New Roman"/>
                <a:ea typeface="Times New Roman"/>
                <a:cs typeface="Times New Roman"/>
                <a:sym typeface="Times New Roman"/>
              </a:rPr>
              <a:t>, “Face Recognition Based Attendance Management System By Using Embedded Linux”, IJERST, vol. 4, no, 2, may 2014.</a:t>
            </a:r>
            <a:endParaRPr sz="1200" dirty="0">
              <a:solidFill>
                <a:schemeClr val="dk1"/>
              </a:solidFill>
              <a:latin typeface="Times New Roman"/>
              <a:ea typeface="Times New Roman"/>
              <a:cs typeface="Times New Roman"/>
              <a:sym typeface="Times New Roman"/>
            </a:endParaRPr>
          </a:p>
          <a:p>
            <a:pPr marL="0" lvl="0" indent="0" algn="just" rtl="0">
              <a:lnSpc>
                <a:spcPct val="150000"/>
              </a:lnSpc>
              <a:spcBef>
                <a:spcPts val="1200"/>
              </a:spcBef>
              <a:spcAft>
                <a:spcPts val="0"/>
              </a:spcAft>
              <a:buNone/>
            </a:pPr>
            <a:r>
              <a:rPr lang="en-US" sz="1200" dirty="0">
                <a:solidFill>
                  <a:schemeClr val="dk1"/>
                </a:solidFill>
                <a:latin typeface="Times New Roman"/>
                <a:ea typeface="Times New Roman"/>
                <a:cs typeface="Times New Roman"/>
                <a:sym typeface="Times New Roman"/>
              </a:rPr>
              <a:t>[4] Abhishek Jha, “Class Room Attendance System using Facial Recognition System”, The </a:t>
            </a:r>
            <a:r>
              <a:rPr lang="en-US" sz="1200" dirty="0" err="1">
                <a:solidFill>
                  <a:schemeClr val="dk1"/>
                </a:solidFill>
                <a:latin typeface="Times New Roman"/>
                <a:ea typeface="Times New Roman"/>
                <a:cs typeface="Times New Roman"/>
                <a:sym typeface="Times New Roman"/>
              </a:rPr>
              <a:t>InternationalJournal</a:t>
            </a:r>
            <a:r>
              <a:rPr lang="en-US" sz="1200" dirty="0">
                <a:solidFill>
                  <a:schemeClr val="dk1"/>
                </a:solidFill>
                <a:latin typeface="Times New Roman"/>
                <a:ea typeface="Times New Roman"/>
                <a:cs typeface="Times New Roman"/>
                <a:sym typeface="Times New Roman"/>
              </a:rPr>
              <a:t> of Mathematics, Science, Technology and Management. (ISSN: 2319-8125) Vol. 2 Issue 3, 2016.</a:t>
            </a:r>
            <a:endParaRPr sz="1200" dirty="0">
              <a:solidFill>
                <a:schemeClr val="dk1"/>
              </a:solidFill>
              <a:latin typeface="Times New Roman"/>
              <a:ea typeface="Times New Roman"/>
              <a:cs typeface="Times New Roman"/>
              <a:sym typeface="Times New Roman"/>
            </a:endParaRPr>
          </a:p>
          <a:p>
            <a:pPr marL="0" lvl="0" indent="0" algn="just" rtl="0">
              <a:lnSpc>
                <a:spcPct val="150000"/>
              </a:lnSpc>
              <a:spcBef>
                <a:spcPts val="1200"/>
              </a:spcBef>
              <a:spcAft>
                <a:spcPts val="0"/>
              </a:spcAft>
              <a:buNone/>
            </a:pPr>
            <a:r>
              <a:rPr lang="en-US" sz="1200" dirty="0">
                <a:solidFill>
                  <a:schemeClr val="dk1"/>
                </a:solidFill>
                <a:latin typeface="Times New Roman"/>
                <a:ea typeface="Times New Roman"/>
                <a:cs typeface="Times New Roman"/>
                <a:sym typeface="Times New Roman"/>
              </a:rPr>
              <a:t>[5] Vikram K and S. Padmavathi. “Facial parts detection using Viola Jones algorithm”. Advanced Computing and Communication Systems (ICACCS), 2017 4th International Conference on IEEE, 2017.</a:t>
            </a:r>
            <a:endParaRPr sz="1200" dirty="0">
              <a:solidFill>
                <a:schemeClr val="dk1"/>
              </a:solidFill>
              <a:latin typeface="Times New Roman"/>
              <a:ea typeface="Times New Roman"/>
              <a:cs typeface="Times New Roman"/>
              <a:sym typeface="Times New Roman"/>
            </a:endParaRPr>
          </a:p>
          <a:p>
            <a:pPr marL="0" lvl="0" indent="0" algn="just" rtl="0">
              <a:lnSpc>
                <a:spcPct val="150000"/>
              </a:lnSpc>
              <a:spcBef>
                <a:spcPts val="1200"/>
              </a:spcBef>
              <a:spcAft>
                <a:spcPts val="0"/>
              </a:spcAft>
              <a:buNone/>
            </a:pPr>
            <a:r>
              <a:rPr lang="en-US" sz="1200" dirty="0">
                <a:solidFill>
                  <a:schemeClr val="dk1"/>
                </a:solidFill>
                <a:latin typeface="Times New Roman"/>
                <a:ea typeface="Times New Roman"/>
                <a:cs typeface="Times New Roman"/>
                <a:sym typeface="Times New Roman"/>
              </a:rPr>
              <a:t>[6] Facial recognition system. (2020). Retrieved March 25, 2020, from</a:t>
            </a:r>
            <a:r>
              <a:rPr lang="en-US" sz="1200" dirty="0">
                <a:solidFill>
                  <a:schemeClr val="dk1"/>
                </a:solidFill>
                <a:uFill>
                  <a:noFill/>
                </a:u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 </a:t>
            </a:r>
            <a:r>
              <a:rPr lang="en-US" sz="1200" u="sng" dirty="0">
                <a:solidFill>
                  <a:schemeClr val="hlink"/>
                </a:solidFill>
                <a:latin typeface="Times New Roman"/>
                <a:ea typeface="Times New Roman"/>
                <a:cs typeface="Times New Roman"/>
                <a:sym typeface="Times New Roman"/>
                <a:hlinkClick r:id="rId4"/>
              </a:rPr>
              <a:t>https://en.wikipedia.org/wiki/Facial_recognition</a:t>
            </a:r>
            <a:endParaRPr sz="1200" u="sng" dirty="0">
              <a:solidFill>
                <a:schemeClr val="hlink"/>
              </a:solidFill>
              <a:latin typeface="Times New Roman"/>
              <a:ea typeface="Times New Roman"/>
              <a:cs typeface="Times New Roman"/>
              <a:sym typeface="Times New Roman"/>
            </a:endParaRPr>
          </a:p>
          <a:p>
            <a:pPr marL="0" lvl="0" indent="0" algn="just" rtl="0">
              <a:lnSpc>
                <a:spcPct val="150000"/>
              </a:lnSpc>
              <a:spcBef>
                <a:spcPts val="1200"/>
              </a:spcBef>
              <a:spcAft>
                <a:spcPts val="0"/>
              </a:spcAft>
              <a:buNone/>
            </a:pPr>
            <a:r>
              <a:rPr lang="en-US" sz="1200" dirty="0">
                <a:solidFill>
                  <a:schemeClr val="dk1"/>
                </a:solidFill>
                <a:latin typeface="Times New Roman"/>
                <a:ea typeface="Times New Roman"/>
                <a:cs typeface="Times New Roman"/>
                <a:sym typeface="Times New Roman"/>
              </a:rPr>
              <a:t>[7] Arduino Uno. (2020). Retrieved March 25, 2020, from</a:t>
            </a:r>
            <a:r>
              <a:rPr lang="en-US" sz="1200" dirty="0">
                <a:solidFill>
                  <a:schemeClr val="dk1"/>
                </a:solidFill>
                <a:uFill>
                  <a:noFill/>
                </a:u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 </a:t>
            </a:r>
            <a:r>
              <a:rPr lang="en-US" sz="1200" u="sng" dirty="0">
                <a:solidFill>
                  <a:schemeClr val="hlink"/>
                </a:solidFill>
                <a:latin typeface="Times New Roman"/>
                <a:ea typeface="Times New Roman"/>
                <a:cs typeface="Times New Roman"/>
                <a:sym typeface="Times New Roman"/>
                <a:hlinkClick r:id="rId5"/>
              </a:rPr>
              <a:t>https://en.mwikipedia.org/wiki/Arduino_Uno</a:t>
            </a:r>
            <a:endParaRPr sz="1200" u="sng" dirty="0">
              <a:solidFill>
                <a:schemeClr val="hlink"/>
              </a:solidFill>
              <a:latin typeface="Times New Roman"/>
              <a:ea typeface="Times New Roman"/>
              <a:cs typeface="Times New Roman"/>
              <a:sym typeface="Times New Roman"/>
            </a:endParaRPr>
          </a:p>
          <a:p>
            <a:pPr marL="0" lvl="0" indent="0" algn="just" rtl="0">
              <a:lnSpc>
                <a:spcPct val="150000"/>
              </a:lnSpc>
              <a:spcBef>
                <a:spcPts val="1200"/>
              </a:spcBef>
              <a:spcAft>
                <a:spcPts val="0"/>
              </a:spcAft>
              <a:buNone/>
            </a:pPr>
            <a:r>
              <a:rPr lang="en-US" sz="1200" dirty="0">
                <a:solidFill>
                  <a:schemeClr val="dk1"/>
                </a:solidFill>
                <a:latin typeface="Times New Roman"/>
                <a:ea typeface="Times New Roman"/>
                <a:cs typeface="Times New Roman"/>
                <a:sym typeface="Times New Roman"/>
              </a:rPr>
              <a:t>[8] MATLAB. (2020). Retrieved April 3, 2020, from</a:t>
            </a:r>
            <a:r>
              <a:rPr lang="en-US" sz="1200" dirty="0">
                <a:solidFill>
                  <a:schemeClr val="dk1"/>
                </a:solidFill>
                <a:uFill>
                  <a:noFill/>
                </a:u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 </a:t>
            </a:r>
            <a:r>
              <a:rPr lang="en-US" sz="1200" u="sng" dirty="0">
                <a:solidFill>
                  <a:schemeClr val="hlink"/>
                </a:solidFill>
                <a:latin typeface="Times New Roman"/>
                <a:ea typeface="Times New Roman"/>
                <a:cs typeface="Times New Roman"/>
                <a:sym typeface="Times New Roman"/>
                <a:hlinkClick r:id="rId6"/>
              </a:rPr>
              <a:t>https://en.m.wikipedia.org/wiki/MATLAB</a:t>
            </a:r>
            <a:endParaRPr sz="1200" u="sng" dirty="0">
              <a:solidFill>
                <a:schemeClr val="hlink"/>
              </a:solidFill>
              <a:latin typeface="Times New Roman"/>
              <a:ea typeface="Times New Roman"/>
              <a:cs typeface="Times New Roman"/>
              <a:sym typeface="Times New Roman"/>
            </a:endParaRPr>
          </a:p>
          <a:p>
            <a:pPr marL="0" lvl="0" indent="0" algn="just" rtl="0">
              <a:lnSpc>
                <a:spcPct val="150000"/>
              </a:lnSpc>
              <a:spcBef>
                <a:spcPts val="1200"/>
              </a:spcBef>
              <a:spcAft>
                <a:spcPts val="0"/>
              </a:spcAft>
              <a:buNone/>
            </a:pPr>
            <a:endParaRPr sz="1200" u="sng" dirty="0">
              <a:solidFill>
                <a:schemeClr val="hlink"/>
              </a:solidFill>
              <a:latin typeface="Times New Roman"/>
              <a:ea typeface="Times New Roman"/>
              <a:cs typeface="Times New Roman"/>
              <a:sym typeface="Times New Roman"/>
            </a:endParaRPr>
          </a:p>
          <a:p>
            <a:pPr marL="0" lvl="0" indent="0" algn="just" rtl="0">
              <a:lnSpc>
                <a:spcPct val="150000"/>
              </a:lnSpc>
              <a:spcBef>
                <a:spcPts val="1200"/>
              </a:spcBef>
              <a:spcAft>
                <a:spcPts val="1200"/>
              </a:spcAft>
              <a:buNone/>
            </a:pPr>
            <a:r>
              <a:rPr lang="en-US" sz="1200" dirty="0">
                <a:solidFill>
                  <a:schemeClr val="dk1"/>
                </a:solidFill>
                <a:latin typeface="Times New Roman"/>
                <a:ea typeface="Times New Roman"/>
                <a:cs typeface="Times New Roman"/>
                <a:sym typeface="Times New Roman"/>
              </a:rPr>
              <a:t> </a:t>
            </a:r>
            <a:endParaRPr sz="12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2"/>
          <p:cNvSpPr txBox="1">
            <a:spLocks noGrp="1"/>
          </p:cNvSpPr>
          <p:nvPr>
            <p:ph type="title"/>
          </p:nvPr>
        </p:nvSpPr>
        <p:spPr>
          <a:xfrm>
            <a:off x="457200" y="633047"/>
            <a:ext cx="8229600" cy="7845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a:t>References</a:t>
            </a:r>
            <a:endParaRPr/>
          </a:p>
        </p:txBody>
      </p:sp>
      <p:sp>
        <p:nvSpPr>
          <p:cNvPr id="276" name="Google Shape;276;p32"/>
          <p:cNvSpPr txBox="1">
            <a:spLocks noGrp="1"/>
          </p:cNvSpPr>
          <p:nvPr>
            <p:ph idx="1"/>
          </p:nvPr>
        </p:nvSpPr>
        <p:spPr>
          <a:prstGeom prst="rect">
            <a:avLst/>
          </a:prstGeom>
        </p:spPr>
        <p:txBody>
          <a:bodyPr spcFirstLastPara="1" wrap="square" lIns="91425" tIns="45700" rIns="91425" bIns="45700" anchor="t" anchorCtr="0">
            <a:normAutofit/>
          </a:bodyPr>
          <a:lstStyle/>
          <a:p>
            <a:pPr marL="0" lvl="0" indent="0" algn="just" rtl="0">
              <a:spcBef>
                <a:spcPts val="360"/>
              </a:spcBef>
              <a:spcAft>
                <a:spcPts val="0"/>
              </a:spcAft>
              <a:buNone/>
            </a:pPr>
            <a:r>
              <a:rPr lang="en-US" sz="1800" dirty="0">
                <a:latin typeface="Times New Roman"/>
                <a:ea typeface="Times New Roman"/>
                <a:cs typeface="Times New Roman"/>
                <a:sym typeface="Times New Roman"/>
              </a:rPr>
              <a:t>[</a:t>
            </a:r>
            <a:r>
              <a:rPr lang="en-US" sz="1479" dirty="0">
                <a:latin typeface="Times New Roman"/>
                <a:ea typeface="Times New Roman"/>
                <a:cs typeface="Times New Roman"/>
                <a:sym typeface="Times New Roman"/>
              </a:rPr>
              <a:t>09] Li, B. A principal component analysis approach to noise removal for speech denoising. In Proceedings of the 2018 International Conference on Virtual Reality and Intelligent Systems (ICVRIS), Hunan, China, 10–11 August 2018;</a:t>
            </a:r>
            <a:endParaRPr sz="1479" dirty="0">
              <a:latin typeface="Times New Roman"/>
              <a:ea typeface="Times New Roman"/>
              <a:cs typeface="Times New Roman"/>
              <a:sym typeface="Times New Roman"/>
            </a:endParaRPr>
          </a:p>
          <a:p>
            <a:pPr marL="0" lvl="0" indent="0" algn="just" rtl="0">
              <a:spcBef>
                <a:spcPts val="360"/>
              </a:spcBef>
              <a:spcAft>
                <a:spcPts val="0"/>
              </a:spcAft>
              <a:buNone/>
            </a:pPr>
            <a:r>
              <a:rPr lang="en-US" sz="1479" dirty="0">
                <a:latin typeface="Times New Roman"/>
                <a:ea typeface="Times New Roman"/>
                <a:cs typeface="Times New Roman"/>
                <a:sym typeface="Times New Roman"/>
              </a:rPr>
              <a:t>[10] Hegde, N.; </a:t>
            </a:r>
            <a:r>
              <a:rPr lang="en-US" sz="1479" dirty="0" err="1">
                <a:latin typeface="Times New Roman"/>
                <a:ea typeface="Times New Roman"/>
                <a:cs typeface="Times New Roman"/>
                <a:sym typeface="Times New Roman"/>
              </a:rPr>
              <a:t>Preetha</a:t>
            </a:r>
            <a:r>
              <a:rPr lang="en-US" sz="1479" dirty="0">
                <a:latin typeface="Times New Roman"/>
                <a:ea typeface="Times New Roman"/>
                <a:cs typeface="Times New Roman"/>
                <a:sym typeface="Times New Roman"/>
              </a:rPr>
              <a:t>, S.; Bhagwat, S. Facial Expression Classifier Using Better Technique: </a:t>
            </a:r>
            <a:r>
              <a:rPr lang="en-US" sz="1479" dirty="0" err="1">
                <a:latin typeface="Times New Roman"/>
                <a:ea typeface="Times New Roman"/>
                <a:cs typeface="Times New Roman"/>
                <a:sym typeface="Times New Roman"/>
              </a:rPr>
              <a:t>FisherFace</a:t>
            </a:r>
            <a:r>
              <a:rPr lang="en-US" sz="1479" dirty="0">
                <a:latin typeface="Times New Roman"/>
                <a:ea typeface="Times New Roman"/>
                <a:cs typeface="Times New Roman"/>
                <a:sym typeface="Times New Roman"/>
              </a:rPr>
              <a:t> Algorithm. In Proceedings of the 2018 International Conference on Advances in Computing, Communications and Informatics (ICACCI), Bangalore, India, 19–22 September 2018;</a:t>
            </a:r>
            <a:endParaRPr sz="1479" dirty="0">
              <a:latin typeface="Times New Roman"/>
              <a:ea typeface="Times New Roman"/>
              <a:cs typeface="Times New Roman"/>
              <a:sym typeface="Times New Roman"/>
            </a:endParaRPr>
          </a:p>
          <a:p>
            <a:pPr marL="0" lvl="0" indent="0" algn="just" rtl="0">
              <a:spcBef>
                <a:spcPts val="360"/>
              </a:spcBef>
              <a:spcAft>
                <a:spcPts val="0"/>
              </a:spcAft>
              <a:buNone/>
            </a:pPr>
            <a:r>
              <a:rPr lang="en-US" sz="1479" dirty="0">
                <a:latin typeface="Times New Roman"/>
                <a:ea typeface="Times New Roman"/>
                <a:cs typeface="Times New Roman"/>
                <a:sym typeface="Times New Roman"/>
              </a:rPr>
              <a:t>[11] Weber, M. The Probabilistic Eigenspace Approach. Available online: www.vision.caltech.edu (accessed on 20 July 2020). </a:t>
            </a:r>
            <a:endParaRPr sz="1479" dirty="0">
              <a:latin typeface="Times New Roman"/>
              <a:ea typeface="Times New Roman"/>
              <a:cs typeface="Times New Roman"/>
              <a:sym typeface="Times New Roman"/>
            </a:endParaRPr>
          </a:p>
          <a:p>
            <a:pPr marL="0" lvl="0" indent="0" algn="just" rtl="0">
              <a:spcBef>
                <a:spcPts val="360"/>
              </a:spcBef>
              <a:spcAft>
                <a:spcPts val="0"/>
              </a:spcAft>
              <a:buNone/>
            </a:pPr>
            <a:r>
              <a:rPr lang="en-US" sz="1479" dirty="0">
                <a:latin typeface="Times New Roman"/>
                <a:ea typeface="Times New Roman"/>
                <a:cs typeface="Times New Roman"/>
                <a:sym typeface="Times New Roman"/>
              </a:rPr>
              <a:t>[12] </a:t>
            </a:r>
            <a:r>
              <a:rPr lang="en-US" sz="1479" dirty="0" err="1">
                <a:latin typeface="Times New Roman"/>
                <a:ea typeface="Times New Roman"/>
                <a:cs typeface="Times New Roman"/>
                <a:sym typeface="Times New Roman"/>
              </a:rPr>
              <a:t>Jin</a:t>
            </a:r>
            <a:r>
              <a:rPr lang="en-US" sz="1479" dirty="0">
                <a:latin typeface="Times New Roman"/>
                <a:ea typeface="Times New Roman"/>
                <a:cs typeface="Times New Roman"/>
                <a:sym typeface="Times New Roman"/>
              </a:rPr>
              <a:t>, S.; Lin, Y.; Wang, H. Automatic Modulation Recognition of Digital Signals Based on </a:t>
            </a:r>
            <a:r>
              <a:rPr lang="en-US" sz="1479" dirty="0" err="1">
                <a:latin typeface="Times New Roman"/>
                <a:ea typeface="Times New Roman"/>
                <a:cs typeface="Times New Roman"/>
                <a:sym typeface="Times New Roman"/>
              </a:rPr>
              <a:t>Fisherface</a:t>
            </a:r>
            <a:r>
              <a:rPr lang="en-US" sz="1479" dirty="0">
                <a:latin typeface="Times New Roman"/>
                <a:ea typeface="Times New Roman"/>
                <a:cs typeface="Times New Roman"/>
                <a:sym typeface="Times New Roman"/>
              </a:rPr>
              <a:t>. In Proceedings of the 2017 IEEE International Conference on Software Quality, Reliability and Security Companion (QRS-C), Prague, Czech Republic, 25–29 July 2017;</a:t>
            </a:r>
            <a:endParaRPr sz="1479" dirty="0">
              <a:latin typeface="Times New Roman"/>
              <a:ea typeface="Times New Roman"/>
              <a:cs typeface="Times New Roman"/>
              <a:sym typeface="Times New Roman"/>
            </a:endParaRPr>
          </a:p>
          <a:p>
            <a:pPr marL="0" lvl="0" indent="0" algn="just" rtl="0">
              <a:spcBef>
                <a:spcPts val="360"/>
              </a:spcBef>
              <a:spcAft>
                <a:spcPts val="0"/>
              </a:spcAft>
              <a:buNone/>
            </a:pPr>
            <a:r>
              <a:rPr lang="en-US" sz="1479" dirty="0">
                <a:latin typeface="Times New Roman"/>
                <a:ea typeface="Times New Roman"/>
                <a:cs typeface="Times New Roman"/>
                <a:sym typeface="Times New Roman"/>
              </a:rPr>
              <a:t>[13] Shen, W.; Wang, W. Node Identification in Wireless Network Based on Convolutional Neural Network. In Proceedings of the 2018 14th International Conference on Computational Intelligence and Security (CIS), Hangzhou, China, 16–19 November 2018;</a:t>
            </a:r>
            <a:endParaRPr sz="1479" dirty="0">
              <a:latin typeface="Times New Roman"/>
              <a:ea typeface="Times New Roman"/>
              <a:cs typeface="Times New Roman"/>
              <a:sym typeface="Times New Roman"/>
            </a:endParaRPr>
          </a:p>
          <a:p>
            <a:pPr marL="0" lvl="0" indent="0" algn="just" rtl="0">
              <a:spcBef>
                <a:spcPts val="360"/>
              </a:spcBef>
              <a:spcAft>
                <a:spcPts val="0"/>
              </a:spcAft>
              <a:buNone/>
            </a:pPr>
            <a:r>
              <a:rPr lang="en-US" sz="1479" dirty="0">
                <a:latin typeface="Times New Roman"/>
                <a:ea typeface="Times New Roman"/>
                <a:cs typeface="Times New Roman"/>
                <a:sym typeface="Times New Roman"/>
              </a:rPr>
              <a:t>[14] Shalini, K.; </a:t>
            </a:r>
            <a:r>
              <a:rPr lang="en-US" sz="1479" dirty="0" err="1">
                <a:latin typeface="Times New Roman"/>
                <a:ea typeface="Times New Roman"/>
                <a:cs typeface="Times New Roman"/>
                <a:sym typeface="Times New Roman"/>
              </a:rPr>
              <a:t>Ravikurnar</a:t>
            </a:r>
            <a:r>
              <a:rPr lang="en-US" sz="1479" dirty="0">
                <a:latin typeface="Times New Roman"/>
                <a:ea typeface="Times New Roman"/>
                <a:cs typeface="Times New Roman"/>
                <a:sym typeface="Times New Roman"/>
              </a:rPr>
              <a:t>, A.; </a:t>
            </a:r>
            <a:r>
              <a:rPr lang="en-US" sz="1479" dirty="0" err="1">
                <a:latin typeface="Times New Roman"/>
                <a:ea typeface="Times New Roman"/>
                <a:cs typeface="Times New Roman"/>
                <a:sym typeface="Times New Roman"/>
              </a:rPr>
              <a:t>Vineetha</a:t>
            </a:r>
            <a:r>
              <a:rPr lang="en-US" sz="1479" dirty="0">
                <a:latin typeface="Times New Roman"/>
                <a:ea typeface="Times New Roman"/>
                <a:cs typeface="Times New Roman"/>
                <a:sym typeface="Times New Roman"/>
              </a:rPr>
              <a:t>, R.; </a:t>
            </a:r>
            <a:r>
              <a:rPr lang="en-US" sz="1479" dirty="0" err="1">
                <a:latin typeface="Times New Roman"/>
                <a:ea typeface="Times New Roman"/>
                <a:cs typeface="Times New Roman"/>
                <a:sym typeface="Times New Roman"/>
              </a:rPr>
              <a:t>Aravinda</a:t>
            </a:r>
            <a:r>
              <a:rPr lang="en-US" sz="1479" dirty="0">
                <a:latin typeface="Times New Roman"/>
                <a:ea typeface="Times New Roman"/>
                <a:cs typeface="Times New Roman"/>
                <a:sym typeface="Times New Roman"/>
              </a:rPr>
              <a:t>, R.D.; Anand, K.M.; Soman, K. Sentiment Analysis of Indian Languages using Convolutional Neural Networks. In Proceedings of the 2018 International Conference on Computer Communication and Informatics (ICCCI), Coimbatore, India, 4–6 January 2018;</a:t>
            </a:r>
            <a:endParaRPr sz="1479" dirty="0">
              <a:latin typeface="Times New Roman"/>
              <a:ea typeface="Times New Roman"/>
              <a:cs typeface="Times New Roman"/>
              <a:sym typeface="Times New Roman"/>
            </a:endParaRPr>
          </a:p>
        </p:txBody>
      </p:sp>
      <p:sp>
        <p:nvSpPr>
          <p:cNvPr id="274" name="Google Shape;274;p32"/>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pic>
        <p:nvPicPr>
          <p:cNvPr id="275" name="Google Shape;275;p32" descr="A close up of a sign&#10;&#10;Description automatically generated"/>
          <p:cNvPicPr preferRelativeResize="0"/>
          <p:nvPr/>
        </p:nvPicPr>
        <p:blipFill rotWithShape="1">
          <a:blip r:embed="rId3">
            <a:alphaModFix/>
          </a:blip>
          <a:srcRect/>
          <a:stretch/>
        </p:blipFill>
        <p:spPr>
          <a:xfrm>
            <a:off x="0" y="0"/>
            <a:ext cx="3021525" cy="784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3"/>
          <p:cNvSpPr txBox="1">
            <a:spLocks noGrp="1"/>
          </p:cNvSpPr>
          <p:nvPr>
            <p:ph type="title"/>
          </p:nvPr>
        </p:nvSpPr>
        <p:spPr>
          <a:xfrm>
            <a:off x="457200" y="726470"/>
            <a:ext cx="8229600" cy="6912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a:t>References</a:t>
            </a:r>
            <a:endParaRPr/>
          </a:p>
        </p:txBody>
      </p:sp>
      <p:sp>
        <p:nvSpPr>
          <p:cNvPr id="283" name="Google Shape;283;p33"/>
          <p:cNvSpPr txBox="1">
            <a:spLocks noGrp="1"/>
          </p:cNvSpPr>
          <p:nvPr>
            <p:ph idx="1"/>
          </p:nvPr>
        </p:nvSpPr>
        <p:spPr>
          <a:xfrm>
            <a:off x="457200" y="1787150"/>
            <a:ext cx="8229600" cy="4339200"/>
          </a:xfrm>
          <a:prstGeom prst="rect">
            <a:avLst/>
          </a:prstGeom>
        </p:spPr>
        <p:txBody>
          <a:bodyPr spcFirstLastPara="1" wrap="square" lIns="91425" tIns="45700" rIns="91425" bIns="45700" anchor="t" anchorCtr="0">
            <a:normAutofit/>
          </a:bodyPr>
          <a:lstStyle/>
          <a:p>
            <a:pPr marL="0" lvl="0" indent="0" algn="just" rtl="0">
              <a:lnSpc>
                <a:spcPct val="150000"/>
              </a:lnSpc>
              <a:spcBef>
                <a:spcPts val="360"/>
              </a:spcBef>
              <a:spcAft>
                <a:spcPts val="0"/>
              </a:spcAft>
              <a:buSzPts val="1018"/>
              <a:buNone/>
            </a:pPr>
            <a:r>
              <a:rPr lang="en-US" sz="1560" dirty="0"/>
              <a:t>[15] Xiao, Y.; Keung, J. Improving Bug Localization with Character-Level Convolutional Neural Network and Recurrent Neural Network. In Proceedings of the 2018 25th Asia Pacific Software Engineering Conference (APSEC), Nara, Japan, 4–7 December 2018;</a:t>
            </a:r>
            <a:endParaRPr sz="1560" dirty="0"/>
          </a:p>
          <a:p>
            <a:pPr marL="0" lvl="0" indent="0" algn="just" rtl="0">
              <a:lnSpc>
                <a:spcPct val="150000"/>
              </a:lnSpc>
              <a:spcBef>
                <a:spcPts val="360"/>
              </a:spcBef>
              <a:spcAft>
                <a:spcPts val="0"/>
              </a:spcAft>
              <a:buSzPts val="1018"/>
              <a:buNone/>
            </a:pPr>
            <a:r>
              <a:rPr lang="en-US" sz="1560" dirty="0"/>
              <a:t>[16] Mahajan, N.V.; Deshpande, A.; </a:t>
            </a:r>
            <a:r>
              <a:rPr lang="en-US" sz="1560" dirty="0" err="1"/>
              <a:t>Satpute</a:t>
            </a:r>
            <a:r>
              <a:rPr lang="en-US" sz="1560" dirty="0"/>
              <a:t>, S. Prediction of Fault in Gas Chromatograph using Convolutional Neural Network. In Proceedings of the 2019 3rd International Conference on Trends in Electronics and Informatics (ICOEI), Tirunelveli, India, 23–25 April 2019;</a:t>
            </a:r>
            <a:endParaRPr sz="1560" dirty="0"/>
          </a:p>
          <a:p>
            <a:pPr marL="0" lvl="0" indent="0" algn="just" rtl="0">
              <a:lnSpc>
                <a:spcPct val="150000"/>
              </a:lnSpc>
              <a:spcBef>
                <a:spcPts val="360"/>
              </a:spcBef>
              <a:spcAft>
                <a:spcPts val="0"/>
              </a:spcAft>
              <a:buSzPts val="1018"/>
              <a:buNone/>
            </a:pPr>
            <a:r>
              <a:rPr lang="en-US" sz="1560" dirty="0"/>
              <a:t>[17] S </a:t>
            </a:r>
            <a:r>
              <a:rPr lang="en-US" sz="1560" dirty="0" err="1"/>
              <a:t>Amulya</a:t>
            </a:r>
            <a:r>
              <a:rPr lang="en-US" sz="1560" dirty="0"/>
              <a:t>,: Pilli Siva Gowtham Reddy,: SA </a:t>
            </a:r>
            <a:r>
              <a:rPr lang="en-US" sz="1560" dirty="0" err="1"/>
              <a:t>Hariprasad</a:t>
            </a:r>
            <a:r>
              <a:rPr lang="en-US" sz="1560" dirty="0"/>
              <a:t>,; MP Sunil,. FACE DETECTION AND RECOGNITION FOR AUTOMATIC ATTENDANCE SYSTEM. International Education and Research Journal, 2018; </a:t>
            </a:r>
            <a:endParaRPr sz="1560" dirty="0"/>
          </a:p>
        </p:txBody>
      </p:sp>
      <p:sp>
        <p:nvSpPr>
          <p:cNvPr id="284" name="Google Shape;284;p33"/>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pic>
        <p:nvPicPr>
          <p:cNvPr id="285" name="Google Shape;285;p33" descr="A close up of a sign&#10;&#10;Description automatically generated"/>
          <p:cNvPicPr preferRelativeResize="0"/>
          <p:nvPr/>
        </p:nvPicPr>
        <p:blipFill rotWithShape="1">
          <a:blip r:embed="rId3">
            <a:alphaModFix/>
          </a:blip>
          <a:srcRect/>
          <a:stretch/>
        </p:blipFill>
        <p:spPr>
          <a:xfrm>
            <a:off x="0" y="0"/>
            <a:ext cx="3021525" cy="784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23708-E464-890A-5088-B06A1DD12C2F}"/>
              </a:ext>
            </a:extLst>
          </p:cNvPr>
          <p:cNvSpPr>
            <a:spLocks noGrp="1"/>
          </p:cNvSpPr>
          <p:nvPr>
            <p:ph type="title"/>
          </p:nvPr>
        </p:nvSpPr>
        <p:spPr>
          <a:xfrm>
            <a:off x="457200" y="1152938"/>
            <a:ext cx="8229600" cy="264699"/>
          </a:xfrm>
        </p:spPr>
        <p:txBody>
          <a:bodyPr>
            <a:normAutofit fontScale="90000"/>
          </a:bodyPr>
          <a:lstStyle/>
          <a:p>
            <a:r>
              <a:rPr lang="en-IN" dirty="0"/>
              <a:t>               </a:t>
            </a:r>
          </a:p>
        </p:txBody>
      </p:sp>
      <p:sp>
        <p:nvSpPr>
          <p:cNvPr id="3" name="Text Placeholder 2">
            <a:extLst>
              <a:ext uri="{FF2B5EF4-FFF2-40B4-BE49-F238E27FC236}">
                <a16:creationId xmlns:a16="http://schemas.microsoft.com/office/drawing/2014/main" id="{1728A8C5-1450-B924-EB44-DE8323AD5253}"/>
              </a:ext>
            </a:extLst>
          </p:cNvPr>
          <p:cNvSpPr>
            <a:spLocks noGrp="1"/>
          </p:cNvSpPr>
          <p:nvPr>
            <p:ph idx="1"/>
          </p:nvPr>
        </p:nvSpPr>
        <p:spPr>
          <a:xfrm>
            <a:off x="99390" y="2375452"/>
            <a:ext cx="8587409" cy="3770589"/>
          </a:xfrm>
        </p:spPr>
        <p:txBody>
          <a:bodyPr/>
          <a:lstStyle/>
          <a:p>
            <a:pPr marL="114300" indent="0">
              <a:buNone/>
            </a:pPr>
            <a:r>
              <a:rPr lang="en-IN" dirty="0">
                <a:solidFill>
                  <a:schemeClr val="tx1"/>
                </a:solidFill>
              </a:rPr>
              <a:t>                            </a:t>
            </a:r>
            <a:r>
              <a:rPr lang="en-IN" sz="9600" dirty="0">
                <a:solidFill>
                  <a:schemeClr val="tx1"/>
                </a:solidFill>
                <a:latin typeface="Times New Roman" panose="02020603050405020304" pitchFamily="18" charset="0"/>
                <a:cs typeface="Times New Roman" panose="02020603050405020304" pitchFamily="18" charset="0"/>
              </a:rPr>
              <a:t>Thank you</a:t>
            </a:r>
            <a:r>
              <a:rPr lang="en-IN" sz="9600" dirty="0">
                <a:latin typeface="Times New Roman" panose="02020603050405020304" pitchFamily="18" charset="0"/>
                <a:cs typeface="Times New Roman" panose="02020603050405020304" pitchFamily="18" charset="0"/>
              </a:rPr>
              <a:t>                </a:t>
            </a:r>
          </a:p>
        </p:txBody>
      </p:sp>
      <p:sp>
        <p:nvSpPr>
          <p:cNvPr id="4" name="Slide Number Placeholder 3">
            <a:extLst>
              <a:ext uri="{FF2B5EF4-FFF2-40B4-BE49-F238E27FC236}">
                <a16:creationId xmlns:a16="http://schemas.microsoft.com/office/drawing/2014/main" id="{5120C423-EA44-96B0-A8B7-EB4F93C0821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pic>
        <p:nvPicPr>
          <p:cNvPr id="5" name="Google Shape;285;p33" descr="A close up of a sign&#10;&#10;Description automatically generated">
            <a:extLst>
              <a:ext uri="{FF2B5EF4-FFF2-40B4-BE49-F238E27FC236}">
                <a16:creationId xmlns:a16="http://schemas.microsoft.com/office/drawing/2014/main" id="{5E28B234-0560-AF2D-D1D3-06CA2FC6222F}"/>
              </a:ext>
            </a:extLst>
          </p:cNvPr>
          <p:cNvPicPr preferRelativeResize="0"/>
          <p:nvPr/>
        </p:nvPicPr>
        <p:blipFill rotWithShape="1">
          <a:blip r:embed="rId2">
            <a:alphaModFix/>
          </a:blip>
          <a:srcRect/>
          <a:stretch/>
        </p:blipFill>
        <p:spPr>
          <a:xfrm>
            <a:off x="0" y="0"/>
            <a:ext cx="3021525" cy="784600"/>
          </a:xfrm>
          <a:prstGeom prst="rect">
            <a:avLst/>
          </a:prstGeom>
          <a:noFill/>
          <a:ln>
            <a:noFill/>
          </a:ln>
        </p:spPr>
      </p:pic>
    </p:spTree>
    <p:extLst>
      <p:ext uri="{BB962C8B-B14F-4D97-AF65-F5344CB8AC3E}">
        <p14:creationId xmlns:p14="http://schemas.microsoft.com/office/powerpoint/2010/main" val="16246056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65</TotalTime>
  <Words>2288</Words>
  <Application>Microsoft Office PowerPoint</Application>
  <PresentationFormat>On-screen Show (4:3)</PresentationFormat>
  <Paragraphs>222</Paragraphs>
  <Slides>24</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-apple-system</vt:lpstr>
      <vt:lpstr>Arial</vt:lpstr>
      <vt:lpstr>Calibri</vt:lpstr>
      <vt:lpstr>Calibri Light</vt:lpstr>
      <vt:lpstr>Open Sans</vt:lpstr>
      <vt:lpstr>Times New Roman</vt:lpstr>
      <vt:lpstr>Office Theme</vt:lpstr>
      <vt:lpstr>PowerPoint Presentation</vt:lpstr>
      <vt:lpstr>Content</vt:lpstr>
      <vt:lpstr>   Introduction</vt:lpstr>
      <vt:lpstr>Introduction</vt:lpstr>
      <vt:lpstr>Literature Review</vt:lpstr>
      <vt:lpstr>Problem Statement</vt:lpstr>
      <vt:lpstr>     Objectives</vt:lpstr>
      <vt:lpstr>Objectives</vt:lpstr>
      <vt:lpstr>          Design and development-Software/Hardware</vt:lpstr>
      <vt:lpstr>           </vt:lpstr>
      <vt:lpstr>Methodology</vt:lpstr>
      <vt:lpstr>Methodology</vt:lpstr>
      <vt:lpstr>Methodology</vt:lpstr>
      <vt:lpstr>Methodology</vt:lpstr>
      <vt:lpstr>Result Analysis in real time</vt:lpstr>
      <vt:lpstr>Attendance will be recorded in this way.</vt:lpstr>
      <vt:lpstr>The mail will be send to parents as shown in the below picture.</vt:lpstr>
      <vt:lpstr>Limitations and Applications</vt:lpstr>
      <vt:lpstr>Conclusion and future scope of this    project</vt:lpstr>
      <vt:lpstr>Conclusion</vt:lpstr>
      <vt:lpstr>References</vt:lpstr>
      <vt:lpstr>References</vt:lpstr>
      <vt:lpstr>References</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bhavana l</cp:lastModifiedBy>
  <cp:revision>6</cp:revision>
  <dcterms:modified xsi:type="dcterms:W3CDTF">2022-06-22T03:02:03Z</dcterms:modified>
</cp:coreProperties>
</file>